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italic.fntdata"/><Relationship Id="rId30" Type="http://schemas.openxmlformats.org/officeDocument/2006/relationships/font" Target="fonts/Raleway-bold.fntdata"/><Relationship Id="rId11" Type="http://schemas.openxmlformats.org/officeDocument/2006/relationships/slide" Target="slides/slide6.xml"/><Relationship Id="rId33" Type="http://schemas.openxmlformats.org/officeDocument/2006/relationships/font" Target="fonts/Lato-regular.fntdata"/><Relationship Id="rId10" Type="http://schemas.openxmlformats.org/officeDocument/2006/relationships/slide" Target="slides/slide5.xml"/><Relationship Id="rId32" Type="http://schemas.openxmlformats.org/officeDocument/2006/relationships/font" Target="fonts/Raleway-boldItalic.fntdata"/><Relationship Id="rId13" Type="http://schemas.openxmlformats.org/officeDocument/2006/relationships/slide" Target="slides/slide8.xml"/><Relationship Id="rId35" Type="http://schemas.openxmlformats.org/officeDocument/2006/relationships/font" Target="fonts/Lato-italic.fntdata"/><Relationship Id="rId12" Type="http://schemas.openxmlformats.org/officeDocument/2006/relationships/slide" Target="slides/slide7.xml"/><Relationship Id="rId34" Type="http://schemas.openxmlformats.org/officeDocument/2006/relationships/font" Target="fonts/Lat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La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Posible variación: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Mejora esta versión con el atributo strength  (&lt;break strength=”weak”/&gt;)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&lt;lang xml:lang="en-UK"&gt;streamer &lt;/lang&gt;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&lt;emphasis level="moderate"&gt;Campanadas de fin de año &lt;/emphasis&gt;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"/>
              <a:t>&lt;emphasis level="strong"&gt;Campanadas de fin de año &lt;/emphasis&gt;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&lt;emphasis level="reduced"&gt;Campanadas de fin de año &lt;/emphasis&gt;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Parece que esta etiqueta solo funciona con el motor estándar y no lo hace con el neuronal.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&lt;speak&gt;El &lt;lang xml:lang="en"&gt;streamer &lt;/lang&gt;vasco ha anunciado que este año prepara de nuevo un programa especial para &lt;emphasis level="strong"&gt;Campanadas de fin de año &lt;/emphasis&gt; y este domingo&lt;break strength="weak"/&gt; &lt;emphasis level="reduced"&gt; desvela quién le acompañará &lt;/emphasis&gt;&lt;/speak&gt;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&lt;speak&gt;El &lt;lang xml:lang="en"&gt;streamer &lt;/lang&gt;vasco ha anunciado que este año prepara de nuevo un programa especial para &lt;emphasis level="strong"&gt;Campanadas de fin de año &lt;/emphasis&gt; y este domingo&lt;break strength="weak"/&gt; &lt;emphasis level="reduced"&gt; desvela quién le acompañará &lt;/emphasis&gt;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&lt;p&gt;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También hay un rumor por la red que se ha enfadado con su compañero Auronplay debido a la serie TortillaLand, al parecer no le gusta que jueguen con el nombre de un plato tan típico y bueno como la tortilla.&lt;s&gt; El conocido como gigante noble es capaz de cenar una tortilla española de 6 huevos&lt;/s&gt;&lt;/p&gt;&lt;/speak&gt;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&lt;prosody volume="-6dB"&gt;Rosalía y Rauw Alejandro concedió una entrevista al programa puertorriqueño Alofoke sin censura donde habló sobre el eclipse sufrido por el gigante noble.&lt;/prosody&gt;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&lt;prosody volume="+6dB"&gt;Rosalía y Rauw Alejandro concedió una entrevista al programa puertorriqueño Alofoke sin censura donde habló sobre el eclipse sufrido por el gigante noble.&lt;/prosody&gt;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No aprecio diferencia.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&lt;speak&gt;La cantante española comentó&lt;prosody rate="slow"&gt; cuando se puso delante es como si el mundo se hubiera parado&lt;/prosody&gt;,&lt;prosody rate="20%"&gt; todo pasaba muy despacio como si Rauw Alejandro y yo estuviéramos solos&lt;/prosody&gt;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&lt;/speak&gt;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6" name="Google Shape;16;p2"/>
          <p:cNvSpPr txBox="1"/>
          <p:nvPr/>
        </p:nvSpPr>
        <p:spPr>
          <a:xfrm>
            <a:off x="830400" y="4304700"/>
            <a:ext cx="797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IES Abastos									  CE Inteligencia Artificial y Big Data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											      Modelos de Inteligencia Artificial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729450" y="4631825"/>
            <a:ext cx="79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    IES Abastos			  		  		             CE Inteligencia Artificial y Big Data/ Modelos de Inteligencia Artificial</a:t>
            </a:r>
            <a:endParaRPr b="0" i="0" sz="1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8" name="Google Shape;28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5" name="Google Shape;35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" name="Google Shape;43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4" name="Google Shape;44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" name="Google Shape;50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1" name="Google Shape;51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4" name="Google Shape;54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8" name="Google Shape;58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5" name="Google Shape;65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" name="Google Shape;67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8" name="Google Shape;68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9" name="Google Shape;69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6" name="Google Shape;76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" name="Google Shape;78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358"/>
              <a:buNone/>
            </a:pPr>
            <a:r>
              <a:rPr lang="es"/>
              <a:t>UT</a:t>
            </a:r>
            <a:r>
              <a:rPr lang="es" sz="4650"/>
              <a:t>.6 PROCESAMIENTO DEL LENGUAJE NATURAL: </a:t>
            </a:r>
            <a:endParaRPr sz="465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358"/>
              <a:buNone/>
            </a:pPr>
            <a:r>
              <a:rPr lang="es" sz="4650"/>
              <a:t>TEXTO A VOZ</a:t>
            </a:r>
            <a:endParaRPr sz="46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687150" y="5995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s" sz="2600" u="none" cap="none" strike="noStrike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Bloques de la UT7:</a:t>
            </a:r>
            <a:endParaRPr b="1" i="0" sz="2600" u="none" cap="none" strike="noStrike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780200" y="1441200"/>
            <a:ext cx="7688700" cy="19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4194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Lato"/>
              <a:buAutoNum type="arabicPeriod"/>
            </a:pPr>
            <a:r>
              <a:rPr b="0" i="0" lang="es" sz="2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Amazon Polly</a:t>
            </a:r>
            <a:endParaRPr b="0" i="0" sz="21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194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Lato"/>
              <a:buAutoNum type="arabicPeriod"/>
            </a:pPr>
            <a:r>
              <a:rPr b="0" i="0" lang="es" sz="2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Marcas de Voz.</a:t>
            </a:r>
            <a:endParaRPr b="0" i="0" sz="21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194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Lato"/>
              <a:buAutoNum type="arabicPeriod"/>
            </a:pPr>
            <a:r>
              <a:rPr b="0" i="0" lang="es" sz="2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SSML.</a:t>
            </a:r>
            <a:endParaRPr b="0" i="0" sz="21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194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Lato"/>
              <a:buAutoNum type="arabicPeriod"/>
            </a:pPr>
            <a:r>
              <a:rPr b="1" i="0" lang="es" sz="2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Laboratorio 1: Amazon Polly</a:t>
            </a:r>
            <a:endParaRPr b="1" i="0" sz="21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194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Lato"/>
              <a:buAutoNum type="arabicPeriod"/>
            </a:pPr>
            <a:r>
              <a:rPr b="0" i="0" lang="es" sz="2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Laboratorio 2: Gestión de costos.</a:t>
            </a:r>
            <a:endParaRPr b="0" i="0" sz="21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Laboratorio 1: Ejercicio 1: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1144175"/>
            <a:ext cx="76887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pretende que en la siguiente frase. 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i="1" lang="e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“El streamer vasco ha anunciado que este año prepara de nuevo un programa especial para las Campanadas de fin de año y este domingo desvela quién le acompañará”.</a:t>
            </a:r>
            <a:endParaRPr i="1" sz="2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Transformarlo en voz con idioma Español (España), voz Lucía y  realizar una pausa de 5 segundos después de “domingo”.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Laboratorio 1: Ejercicio 1: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729450" y="1144175"/>
            <a:ext cx="76887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Solución: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&lt;speak&gt;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streamer vasco ha anunciado que este año prepara de nuevo un programa especial para las Campanadas de fin de año y este domingo &lt;break time="5s"/&gt; desvela quién le acompañará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&lt;/speak&gt;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Laboratorio 1: Ejercicio 1: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1144175"/>
            <a:ext cx="76887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 la misma frase seleccionar el motor estándar. ¿ Cuál de las 2 voces suena mejor?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200" y="2088175"/>
            <a:ext cx="7955201" cy="13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Laboratorio 1: Ejercicio 1:</a:t>
            </a:r>
            <a:endParaRPr/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729450" y="1144175"/>
            <a:ext cx="76887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Nos guardamos la resolución del 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ejercicio en un txt o word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luego poder estudiar.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24" name="Google Shape;1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7322" y="1013112"/>
            <a:ext cx="3330351" cy="345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729450" y="1144175"/>
            <a:ext cx="76887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la frase la palabra “streamer” se pronuncia en Español, como lo harías para que sólo esa palabra se pronuncie en inglés.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i="1" lang="e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“El streamer vasco ha anunciado que este año prepara de nuevo un programa especial para las Campanadas de fin de año y este domingo desvela quién le acompañará”.</a:t>
            </a:r>
            <a:endParaRPr i="1" sz="2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31" name="Google Shape;131;p19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Laboratorio 1. Ejercicio 2: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Laboratorio 1. Ejercicio 3:</a:t>
            </a:r>
            <a:endParaRPr/>
          </a:p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729450" y="1144175"/>
            <a:ext cx="76887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Ahora queremos enfatizar “las campanadas de fin de año” con un nivel fuerte. 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i="1" lang="e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“El streamer vasco ha anunciado que este año prepara de nuevo un programa especial para las Campanadas de fin de año y este domingo desvela quién le acompañará”.</a:t>
            </a:r>
            <a:endParaRPr i="1" sz="2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38" name="Google Shape;138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Laboratorio 1. Ejercicio 4:</a:t>
            </a:r>
            <a:endParaRPr/>
          </a:p>
        </p:txBody>
      </p:sp>
      <p:sp>
        <p:nvSpPr>
          <p:cNvPr id="144" name="Google Shape;144;p21"/>
          <p:cNvSpPr txBox="1"/>
          <p:nvPr>
            <p:ph idx="1" type="body"/>
          </p:nvPr>
        </p:nvSpPr>
        <p:spPr>
          <a:xfrm>
            <a:off x="729450" y="1144175"/>
            <a:ext cx="76887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Ahora queremos enfatizar “desvela quién le acompañará” con un nivel reducido, conservando los cambios realizados en ejercicios anteriores. 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i="1" lang="e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“El streamer vasco ha anunciado que este año prepara de nuevo un programa especial para las Campanadas de fin de año y este domingo desvela quién le acompañará”.</a:t>
            </a:r>
            <a:endParaRPr i="1" sz="2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Laboratorio 1. Ejercicio 5:</a:t>
            </a:r>
            <a:endParaRPr/>
          </a:p>
        </p:txBody>
      </p:sp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1012600" y="1327450"/>
            <a:ext cx="76887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el siguiente texto se pretende realizar una pausa basada en puntuación entre párrafos.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i="1" lang="e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“El streamer vasco ha anunciado que este año prepara de nuevo un programa especial para las Campanadas de fin de año y este domingo desvela quién le acompañará.</a:t>
            </a:r>
            <a:endParaRPr i="1" sz="2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i="1" lang="e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También hay un rumor por la red que se ha enfadado con su compañero Auronplay debido a la serie TortillaLand, al parecer no le gusta que jueguen con el nombre de un plato tan típico y bueno como la tortilla”</a:t>
            </a:r>
            <a:endParaRPr i="1" sz="2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Laboratorio 1. Ejercicio 6:</a:t>
            </a:r>
            <a:endParaRPr/>
          </a:p>
        </p:txBody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729450" y="1144175"/>
            <a:ext cx="76887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el siguiente texto se pretende realizar una pausa basada en puntuación entre párrafos y una de sentencia en la última frase.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i="1" lang="e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“El streamer vasco ha anunciado que este año prepara de nuevo un programa especial para las Campanadas de fin de año y este domingo desvela quién le acompañará.</a:t>
            </a:r>
            <a:endParaRPr i="1" sz="2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i="1" lang="e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También hay un rumor por la red que se ha enfadado con su compañero Auronplay debido a la serie TortillaLand, al parecer no le gusta que jueguen con el nombre de un plato tan típico y bueno como la tortilla. El conocido como gigante noble es capaz de cenar una tortilla española de 6 huevos.”</a:t>
            </a:r>
            <a:endParaRPr i="1" sz="2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Laboratorio 1. Ejercicio 7:</a:t>
            </a:r>
            <a:endParaRPr/>
          </a:p>
        </p:txBody>
      </p:sp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729450" y="1144175"/>
            <a:ext cx="76887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el siguiente texto reproducirlo 2 veces, la primera con el volumen lo más bajo posible y la segunda con el volumen lo más alto posible.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i="1" lang="e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“Rosalía y Rauw Alejandro concedió una entrevista al programa puertorriqueño Alofoke sin censura donde habló sobre el eclipse sufrido por el gigante noble.”</a:t>
            </a:r>
            <a:endParaRPr i="1" sz="2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i="1" sz="2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66" name="Google Shape;166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Laboratorio 1. Ejercicio 8:</a:t>
            </a:r>
            <a:endParaRPr/>
          </a:p>
        </p:txBody>
      </p:sp>
      <p:sp>
        <p:nvSpPr>
          <p:cNvPr id="172" name="Google Shape;172;p25"/>
          <p:cNvSpPr txBox="1"/>
          <p:nvPr>
            <p:ph idx="1" type="body"/>
          </p:nvPr>
        </p:nvSpPr>
        <p:spPr>
          <a:xfrm>
            <a:off x="685750" y="1360650"/>
            <a:ext cx="76887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el siguiente texto reproducirlo a velocidad slow desde “cuando” hasta “parado” y a un 20 % desde “todo” hasta “solos”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i="1" lang="e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1" i="1" lang="e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La cantante española comentó cuando se puso delante es como si el mundo se hubiera parado, todo pasaba muy despacio como si Rauw Alejandro y yo estuviéramos solos</a:t>
            </a:r>
            <a:r>
              <a:rPr i="1" lang="e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i="1" sz="2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i="1" sz="2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73" name="Google Shape;173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Laboratorio 1. Ejercicio 9:</a:t>
            </a:r>
            <a:endParaRPr/>
          </a:p>
        </p:txBody>
      </p:sp>
      <p:sp>
        <p:nvSpPr>
          <p:cNvPr id="179" name="Google Shape;179;p26"/>
          <p:cNvSpPr txBox="1"/>
          <p:nvPr>
            <p:ph idx="1" type="body"/>
          </p:nvPr>
        </p:nvSpPr>
        <p:spPr>
          <a:xfrm>
            <a:off x="685750" y="1360650"/>
            <a:ext cx="76887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el siguiente texto, se necesita que las palabras en azul estén al volumen más alto posible, las que están en verde lo más bajo posible y las que están en rojo con un valor +3dB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i="1" lang="e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Las autoridades fiscales de varias de las provincias más prósperas de China, entre ellas Pekín y Shanghái, </a:t>
            </a:r>
            <a:r>
              <a:rPr i="1" lang="es" sz="2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han dado a famosos e 'influencers' de internet un plazo de diez días para que</a:t>
            </a:r>
            <a:r>
              <a:rPr i="1" lang="e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 pongan al día en el pago de sus impuestos so pena de un "severo castigo" si no lo hacen, informaron hoy medios locales.</a:t>
            </a:r>
            <a:endParaRPr i="1" sz="2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i="1" sz="2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80" name="Google Shape;180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Laboratorio 1. Ejercicio 10:</a:t>
            </a:r>
            <a:endParaRPr/>
          </a:p>
        </p:txBody>
      </p:sp>
      <p:sp>
        <p:nvSpPr>
          <p:cNvPr id="186" name="Google Shape;186;p27"/>
          <p:cNvSpPr txBox="1"/>
          <p:nvPr>
            <p:ph idx="1" type="body"/>
          </p:nvPr>
        </p:nvSpPr>
        <p:spPr>
          <a:xfrm>
            <a:off x="685750" y="1360650"/>
            <a:ext cx="76887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el siguiente texto, se necesita que las palabras en azul se comuniquen lo más rápido posible, las que estén en verde lo más lento posible y las que están en rojo con un valor 50 %.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i="1" lang="e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Las autoridades fiscales de varias de las provincias más prósperas de China, entre ellas Pekín y Shanghái, </a:t>
            </a:r>
            <a:r>
              <a:rPr i="1" lang="es" sz="2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han dado a famosos e 'influencers' de internet un plazo de diez días para que</a:t>
            </a:r>
            <a:r>
              <a:rPr i="1" lang="e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 pongan al día en el pago de sus impuestos so pena de un "severo castigo" si no lo hacen, informaron hoy medios locales.</a:t>
            </a:r>
            <a:endParaRPr i="1" sz="2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i="1" sz="2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87" name="Google Shape;187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Laboratorio 1. Ejercicio 11:</a:t>
            </a:r>
            <a:endParaRPr/>
          </a:p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685750" y="1360650"/>
            <a:ext cx="76887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el siguiente texto, se necesita que las palabras en azul se comuniquen en el tono lo más alto posible, las que estén en verde en el tono lo más bajo posible y las que están en rojo con un valor -10 %.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i="1" lang="e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Las autoridades fiscales de varias de las provincias más prósperas de China, entre ellas Pekín y Shanghái, </a:t>
            </a:r>
            <a:r>
              <a:rPr i="1" lang="es" sz="2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han dado a famosos e 'influencers' de internet un plazo de diez días para que</a:t>
            </a:r>
            <a:r>
              <a:rPr i="1" lang="e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 pongan al día en el pago de sus impuestos so pena de un "severo castigo" si no lo hacen, informaron hoy medios locales.</a:t>
            </a:r>
            <a:endParaRPr i="1" sz="2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i="1" sz="2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94" name="Google Shape;194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Laboratorio 1. Ejercicio 12:</a:t>
            </a:r>
            <a:endParaRPr/>
          </a:p>
        </p:txBody>
      </p:sp>
      <p:sp>
        <p:nvSpPr>
          <p:cNvPr id="200" name="Google Shape;200;p29"/>
          <p:cNvSpPr txBox="1"/>
          <p:nvPr>
            <p:ph idx="1" type="body"/>
          </p:nvPr>
        </p:nvSpPr>
        <p:spPr>
          <a:xfrm>
            <a:off x="685750" y="1360650"/>
            <a:ext cx="76887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el siguiente texto, las palabras en azul reproducirlas con una velocidad del 70 %, en verde con la misma velocidad anterior y con el mayor tono posible.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i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i="1" lang="es" sz="2000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Los famosos analógicos serían actores, músicos, deportistas; los famosos digitales serían youtubers, influencers, tuiteros de éxito, bailarines de TikTok. </a:t>
            </a:r>
            <a:r>
              <a:rPr i="1" lang="es" sz="2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Aun así, ambas famas, la hecha de bits y la hecha de átomos</a:t>
            </a:r>
            <a:r>
              <a:rPr i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s" sz="2000">
                <a:solidFill>
                  <a:srgbClr val="3D85C6"/>
                </a:solidFill>
                <a:latin typeface="Arial"/>
                <a:ea typeface="Arial"/>
                <a:cs typeface="Arial"/>
                <a:sym typeface="Arial"/>
              </a:rPr>
              <a:t>muchas veces se entrecruzan y confunden</a:t>
            </a:r>
            <a:r>
              <a:rPr i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i="1" sz="2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01" name="Google Shape;201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Laboratorio 1. Ejercicio 13:</a:t>
            </a:r>
            <a:endParaRPr/>
          </a:p>
        </p:txBody>
      </p:sp>
      <p:sp>
        <p:nvSpPr>
          <p:cNvPr id="207" name="Google Shape;207;p30"/>
          <p:cNvSpPr txBox="1"/>
          <p:nvPr>
            <p:ph idx="1" type="body"/>
          </p:nvPr>
        </p:nvSpPr>
        <p:spPr>
          <a:xfrm>
            <a:off x="685750" y="1360650"/>
            <a:ext cx="76887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el siguiente texto, las palabras en azul reproducirlas con el menor tono posible y las que estén en verde con el mismo tono anterior y la mayor velocidad posible.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i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i="1" lang="es" sz="2000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Los famosos analógicos serían actores, músicos, deportistas; los famosos digitales serían youtubers, influencers, tuiteros de éxito, bailarines de TikTok. </a:t>
            </a:r>
            <a:r>
              <a:rPr i="1" lang="es" sz="2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Aun así, ambas famas, la hecha de bits y la hecha de átomos</a:t>
            </a:r>
            <a:r>
              <a:rPr i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s" sz="2000">
                <a:solidFill>
                  <a:srgbClr val="3D85C6"/>
                </a:solidFill>
                <a:latin typeface="Arial"/>
                <a:ea typeface="Arial"/>
                <a:cs typeface="Arial"/>
                <a:sym typeface="Arial"/>
              </a:rPr>
              <a:t>muchas veces se entrecruzan y confunden</a:t>
            </a:r>
            <a:r>
              <a:rPr i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i="1" sz="2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08" name="Google Shape;208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Laboratorio 1. Ejercicio 14:</a:t>
            </a:r>
            <a:endParaRPr/>
          </a:p>
        </p:txBody>
      </p:sp>
      <p:sp>
        <p:nvSpPr>
          <p:cNvPr id="214" name="Google Shape;214;p31"/>
          <p:cNvSpPr txBox="1"/>
          <p:nvPr>
            <p:ph idx="1" type="body"/>
          </p:nvPr>
        </p:nvSpPr>
        <p:spPr>
          <a:xfrm>
            <a:off x="685750" y="1360650"/>
            <a:ext cx="76887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el siguiente texto, las palabras en azul reproducirlas con el mayor tono posible, las que están en rojo con el mismo tono anterior y con la mayor velocidad posible, por último las que están en verde con el mismo tono / velocidad anterior y mayor volumen posible.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i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i="1" lang="es" sz="2000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Los famosos analógicos serían actores, músicos, deportistas; l</a:t>
            </a:r>
            <a:r>
              <a:rPr i="1" lang="e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os famosos digitales serían youtubers, influencers, tuiteros de éxito, bailarines de TikTok</a:t>
            </a:r>
            <a:r>
              <a:rPr i="1" lang="es" sz="2000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i="1" lang="es" sz="2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Aun así, ambas famas, la hecha de bits y la hecha de átomos</a:t>
            </a:r>
            <a:r>
              <a:rPr i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s" sz="2000">
                <a:solidFill>
                  <a:srgbClr val="3D85C6"/>
                </a:solidFill>
                <a:latin typeface="Arial"/>
                <a:ea typeface="Arial"/>
                <a:cs typeface="Arial"/>
                <a:sym typeface="Arial"/>
              </a:rPr>
              <a:t>muchas veces se entrecruzan y confunden</a:t>
            </a:r>
            <a:r>
              <a:rPr i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i="1" sz="2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15" name="Google Shape;215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Laboratorio 1. Ejercicio 15:</a:t>
            </a:r>
            <a:endParaRPr/>
          </a:p>
        </p:txBody>
      </p:sp>
      <p:sp>
        <p:nvSpPr>
          <p:cNvPr id="221" name="Google Shape;221;p32"/>
          <p:cNvSpPr txBox="1"/>
          <p:nvPr>
            <p:ph idx="1" type="body"/>
          </p:nvPr>
        </p:nvSpPr>
        <p:spPr>
          <a:xfrm>
            <a:off x="685750" y="1360650"/>
            <a:ext cx="76887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Queremos que el siguiente texto se reproduzca en 20 segundos.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i="1" lang="e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“La Guardia Civil ha desarticulado en Alicante una red dedicada a cometer estafas bancarias a nivel internacional mediante el método 'smishing', una serie de ciberataques que utilizan los mensajes de texto para engañar a los usuarios, infectar sus equipos y robarles datos sensibles y dinero. Se ha detenido a ocho personas, de entre 40 y 59 años y de nacionalidades española, rumana y ucraniana en Valencia, Elx, Málaga, Sevilla y otras cuatro provincias españolas.”</a:t>
            </a:r>
            <a:endParaRPr/>
          </a:p>
        </p:txBody>
      </p:sp>
      <p:sp>
        <p:nvSpPr>
          <p:cNvPr id="222" name="Google Shape;222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Laboratorio 1. Ejercicio 16:</a:t>
            </a:r>
            <a:endParaRPr/>
          </a:p>
        </p:txBody>
      </p:sp>
      <p:sp>
        <p:nvSpPr>
          <p:cNvPr id="228" name="Google Shape;228;p33"/>
          <p:cNvSpPr txBox="1"/>
          <p:nvPr>
            <p:ph idx="1" type="body"/>
          </p:nvPr>
        </p:nvSpPr>
        <p:spPr>
          <a:xfrm>
            <a:off x="685750" y="1360650"/>
            <a:ext cx="76887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el texto del ejercicio anterior, queremos que se reproduzca todo íntegro en 30 segundos y el siguiente fragmento “</a:t>
            </a:r>
            <a:r>
              <a:rPr i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ha detenido a ocho personas, de entre 40 y 59 años y de nacionalidades española, rumana y ucraniana en Valencia, Elx, Málaga, Sevilla y otras cuatro provincias españolas.</a:t>
            </a: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en 2 segundos. ¿ Es posible ? justifique la respuesta.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Laboratorio 1. Ejercicio 17:</a:t>
            </a:r>
            <a:endParaRPr/>
          </a:p>
        </p:txBody>
      </p:sp>
      <p:sp>
        <p:nvSpPr>
          <p:cNvPr id="235" name="Google Shape;235;p34"/>
          <p:cNvSpPr txBox="1"/>
          <p:nvPr>
            <p:ph idx="1" type="body"/>
          </p:nvPr>
        </p:nvSpPr>
        <p:spPr>
          <a:xfrm>
            <a:off x="685750" y="1360650"/>
            <a:ext cx="76887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Queremos que el siguiente texto se reproduzca en modo susurro.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i="1" lang="e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“La Guardia Civil ha desarticulado en Alicante una red dedicada a cometer estafas bancarias a nivel internacional mediante el método 'smishing', una serie de ciberataques que utilizan los mensajes de texto para engañar a los usuarios, infectar sus equipos y robarles datos sensibles y dinero. Se ha detenido a ocho personas, de entre 40 y 59 años y de nacionalidades española, rumana y ucraniana en Valencia, Elx, Málaga, Sevilla y otras cuatro provincias españolas.”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Laboratorio 1. Ejercicio 18:</a:t>
            </a:r>
            <a:endParaRPr/>
          </a:p>
        </p:txBody>
      </p:sp>
      <p:sp>
        <p:nvSpPr>
          <p:cNvPr id="242" name="Google Shape;242;p35"/>
          <p:cNvSpPr txBox="1"/>
          <p:nvPr>
            <p:ph idx="1" type="body"/>
          </p:nvPr>
        </p:nvSpPr>
        <p:spPr>
          <a:xfrm>
            <a:off x="685750" y="1360650"/>
            <a:ext cx="76887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Reproduce el siguiente texto teniendo en cuenta que el formato de fecha es día, mes y año, el mes se debe de reproducir con su nombre. Por otro lado es muy importante que las fracciones se reproduzcan como tales.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i="1" lang="e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“ Yo nací el 11-05-1978 y tengo 1/3 de campos de naranjos, los otros 2/3 son de mis hermanos.”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