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embeddedFontLst>
    <p:embeddedFont>
      <p:font typeface="Raleway"/>
      <p:regular r:id="rId62"/>
      <p:bold r:id="rId63"/>
      <p:italic r:id="rId64"/>
      <p:boldItalic r:id="rId65"/>
    </p:embeddedFont>
    <p:embeddedFont>
      <p:font typeface="Lat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aleway-italic.fntdata"/><Relationship Id="rId63" Type="http://schemas.openxmlformats.org/officeDocument/2006/relationships/font" Target="fonts/Raleway-bold.fntdata"/><Relationship Id="rId22" Type="http://schemas.openxmlformats.org/officeDocument/2006/relationships/slide" Target="slides/slide17.xml"/><Relationship Id="rId66" Type="http://schemas.openxmlformats.org/officeDocument/2006/relationships/font" Target="fonts/Lato-regular.fntdata"/><Relationship Id="rId21" Type="http://schemas.openxmlformats.org/officeDocument/2006/relationships/slide" Target="slides/slide16.xml"/><Relationship Id="rId65" Type="http://schemas.openxmlformats.org/officeDocument/2006/relationships/font" Target="fonts/Raleway-boldItalic.fntdata"/><Relationship Id="rId24" Type="http://schemas.openxmlformats.org/officeDocument/2006/relationships/slide" Target="slides/slide19.xml"/><Relationship Id="rId68" Type="http://schemas.openxmlformats.org/officeDocument/2006/relationships/font" Target="fonts/Lato-italic.fntdata"/><Relationship Id="rId23" Type="http://schemas.openxmlformats.org/officeDocument/2006/relationships/slide" Target="slides/slide18.xml"/><Relationship Id="rId67" Type="http://schemas.openxmlformats.org/officeDocument/2006/relationships/font" Target="fonts/Lato-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at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TTS: Sistema experto</a:t>
            </a:r>
            <a:endParaRPr/>
          </a:p>
          <a:p>
            <a:pPr indent="0" lvl="0" marL="0" rtl="0" algn="l">
              <a:lnSpc>
                <a:spcPct val="100000"/>
              </a:lnSpc>
              <a:spcBef>
                <a:spcPts val="0"/>
              </a:spcBef>
              <a:spcAft>
                <a:spcPts val="0"/>
              </a:spcAft>
              <a:buSzPts val="1100"/>
              <a:buNone/>
            </a:pPr>
            <a:r>
              <a:rPr lang="es"/>
              <a:t>NTTS: Sistema neuronal</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Hablar del ejemplo de amazon eco de la UT5.</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Hacer hincapié en que el ser humano lo tiene que entender y que sea en tiempo real. Hablar de los casos del streaming vistos en las UT anteriores.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Hacer hincapié en que cada lenguaje es un mundo por su gramática, y que las últimas líneas de investigación,es poder un mismo modelo para distintos lenguajes. En español casi todo con TTS sin capacidad neuronal.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Primero no geolocaliza y luego nos dirige a la nube más cercana. y en cada nube estarán disponibles todos los idiomas.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Doblaje</a:t>
            </a:r>
            <a:endParaRPr/>
          </a:p>
          <a:p>
            <a:pPr indent="0" lvl="0" marL="0" rtl="0" algn="l">
              <a:lnSpc>
                <a:spcPct val="100000"/>
              </a:lnSpc>
              <a:spcBef>
                <a:spcPts val="0"/>
              </a:spcBef>
              <a:spcAft>
                <a:spcPts val="0"/>
              </a:spcAft>
              <a:buSzPts val="1100"/>
              <a:buNone/>
            </a:pPr>
            <a:r>
              <a:rPr lang="es"/>
              <a:t>Accesibilidad</a:t>
            </a:r>
            <a:endParaRPr/>
          </a:p>
          <a:p>
            <a:pPr indent="0" lvl="0" marL="0" rtl="0" algn="l">
              <a:lnSpc>
                <a:spcPct val="100000"/>
              </a:lnSpc>
              <a:spcBef>
                <a:spcPts val="0"/>
              </a:spcBef>
              <a:spcAft>
                <a:spcPts val="0"/>
              </a:spcAft>
              <a:buSzPts val="1100"/>
              <a:buNone/>
            </a:pPr>
            <a:r>
              <a:rPr lang="es"/>
              <a:t>Avatar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
              <a:t>Tiene que haber una correlación entre el sonido y los labios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Preguntar por que depende de la voz y el idioma.</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Preguntar por que depende de la voz y el idioma.</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
        <p:nvSpPr>
          <p:cNvPr id="16" name="Google Shape;16;p2"/>
          <p:cNvSpPr txBox="1"/>
          <p:nvPr/>
        </p:nvSpPr>
        <p:spPr>
          <a:xfrm>
            <a:off x="830400" y="4304700"/>
            <a:ext cx="7978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Lato"/>
                <a:ea typeface="Lato"/>
                <a:cs typeface="Lato"/>
                <a:sym typeface="Lato"/>
              </a:rPr>
              <a:t>IES Abastos									  CE Inteligencia Artificial y Big Data</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Lato"/>
                <a:ea typeface="Lato"/>
                <a:cs typeface="Lato"/>
                <a:sym typeface="Lato"/>
              </a:rPr>
              <a:t>											      Modelos de Inteligencia Artificial</a:t>
            </a:r>
            <a:endParaRPr b="0" i="0" sz="1400" u="none" cap="none" strike="noStrike">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
        <p:nvSpPr>
          <p:cNvPr id="25" name="Google Shape;25;p3"/>
          <p:cNvSpPr txBox="1"/>
          <p:nvPr/>
        </p:nvSpPr>
        <p:spPr>
          <a:xfrm>
            <a:off x="729450" y="4631825"/>
            <a:ext cx="79785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s" sz="1000" u="none" cap="none" strike="noStrike">
                <a:solidFill>
                  <a:srgbClr val="000000"/>
                </a:solidFill>
                <a:latin typeface="Lato"/>
                <a:ea typeface="Lato"/>
                <a:cs typeface="Lato"/>
                <a:sym typeface="Lato"/>
              </a:rPr>
              <a:t>     IES Abastos			  		  		             CE Inteligencia Artificial y Big Data/ Modelos de Inteligencia Artificial</a:t>
            </a:r>
            <a:endParaRPr b="0" i="0" sz="1000" u="none" cap="none" strike="noStrike">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4"/>
          <p:cNvGrpSpPr/>
          <p:nvPr/>
        </p:nvGrpSpPr>
        <p:grpSpPr>
          <a:xfrm>
            <a:off x="830392" y="1191256"/>
            <a:ext cx="745763" cy="45826"/>
            <a:chOff x="4580561" y="2589004"/>
            <a:chExt cx="1064464" cy="25200"/>
          </a:xfrm>
        </p:grpSpPr>
        <p:sp>
          <p:nvSpPr>
            <p:cNvPr id="28" name="Google Shape;28;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
          <p:cNvGrpSpPr/>
          <p:nvPr/>
        </p:nvGrpSpPr>
        <p:grpSpPr>
          <a:xfrm>
            <a:off x="830392" y="1191256"/>
            <a:ext cx="745763" cy="45826"/>
            <a:chOff x="4580561" y="2589004"/>
            <a:chExt cx="1064464" cy="25200"/>
          </a:xfrm>
        </p:grpSpPr>
        <p:sp>
          <p:nvSpPr>
            <p:cNvPr id="35" name="Google Shape;35;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 name="Google Shape;40;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p6"/>
          <p:cNvGrpSpPr/>
          <p:nvPr/>
        </p:nvGrpSpPr>
        <p:grpSpPr>
          <a:xfrm>
            <a:off x="830392" y="1191256"/>
            <a:ext cx="745763" cy="45826"/>
            <a:chOff x="4580561" y="2589004"/>
            <a:chExt cx="1064464" cy="25200"/>
          </a:xfrm>
        </p:grpSpPr>
        <p:sp>
          <p:nvSpPr>
            <p:cNvPr id="44" name="Google Shape;44;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7" name="Google Shape;47;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 name="Google Shape;50;p7"/>
          <p:cNvGrpSpPr/>
          <p:nvPr/>
        </p:nvGrpSpPr>
        <p:grpSpPr>
          <a:xfrm>
            <a:off x="830392" y="1191256"/>
            <a:ext cx="745763" cy="45826"/>
            <a:chOff x="4580561" y="2589004"/>
            <a:chExt cx="1064464" cy="25200"/>
          </a:xfrm>
        </p:grpSpPr>
        <p:sp>
          <p:nvSpPr>
            <p:cNvPr id="51" name="Google Shape;51;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4" name="Google Shape;54;p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6" name="Shape 56"/>
        <p:cNvGrpSpPr/>
        <p:nvPr/>
      </p:nvGrpSpPr>
      <p:grpSpPr>
        <a:xfrm>
          <a:off x="0" y="0"/>
          <a:ext cx="0" cy="0"/>
          <a:chOff x="0" y="0"/>
          <a:chExt cx="0" cy="0"/>
        </a:xfrm>
      </p:grpSpPr>
      <p:grpSp>
        <p:nvGrpSpPr>
          <p:cNvPr id="57" name="Google Shape;57;p8"/>
          <p:cNvGrpSpPr/>
          <p:nvPr/>
        </p:nvGrpSpPr>
        <p:grpSpPr>
          <a:xfrm>
            <a:off x="830392" y="4169130"/>
            <a:ext cx="745763" cy="45826"/>
            <a:chOff x="4580561" y="2589004"/>
            <a:chExt cx="1064464" cy="25200"/>
          </a:xfrm>
        </p:grpSpPr>
        <p:sp>
          <p:nvSpPr>
            <p:cNvPr id="58" name="Google Shape;58;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1" name="Google Shape;61;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 name="Google Shape;64;p9"/>
          <p:cNvGrpSpPr/>
          <p:nvPr/>
        </p:nvGrpSpPr>
        <p:grpSpPr>
          <a:xfrm>
            <a:off x="830392" y="1191256"/>
            <a:ext cx="745763" cy="45826"/>
            <a:chOff x="4580561" y="2589004"/>
            <a:chExt cx="1064464" cy="25200"/>
          </a:xfrm>
        </p:grpSpPr>
        <p:sp>
          <p:nvSpPr>
            <p:cNvPr id="65" name="Google Shape;65;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 name="Google Shape;67;p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8" name="Google Shape;68;p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9" name="Google Shape;69;p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0" name="Google Shape;70;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1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3" name="Google Shape;73;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4" name="Shape 74"/>
        <p:cNvGrpSpPr/>
        <p:nvPr/>
      </p:nvGrpSpPr>
      <p:grpSpPr>
        <a:xfrm>
          <a:off x="0" y="0"/>
          <a:ext cx="0" cy="0"/>
          <a:chOff x="0" y="0"/>
          <a:chExt cx="0" cy="0"/>
        </a:xfrm>
      </p:grpSpPr>
      <p:grpSp>
        <p:nvGrpSpPr>
          <p:cNvPr id="75" name="Google Shape;75;p11"/>
          <p:cNvGrpSpPr/>
          <p:nvPr/>
        </p:nvGrpSpPr>
        <p:grpSpPr>
          <a:xfrm>
            <a:off x="830392" y="4169130"/>
            <a:ext cx="745763" cy="45826"/>
            <a:chOff x="4580561" y="2589004"/>
            <a:chExt cx="1064464" cy="25200"/>
          </a:xfrm>
        </p:grpSpPr>
        <p:sp>
          <p:nvSpPr>
            <p:cNvPr id="76" name="Google Shape;76;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1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9" name="Google Shape;79;p1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0" name="Google Shape;80;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 name="Shape 81"/>
        <p:cNvGrpSpPr/>
        <p:nvPr/>
      </p:nvGrpSpPr>
      <p:grpSpPr>
        <a:xfrm>
          <a:off x="0" y="0"/>
          <a:ext cx="0" cy="0"/>
          <a:chOff x="0" y="0"/>
          <a:chExt cx="0" cy="0"/>
        </a:xfrm>
      </p:grpSpPr>
      <p:sp>
        <p:nvSpPr>
          <p:cNvPr id="82" name="Google Shape;82;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youtube.com/watch?v=m6dsnR2Jvbw" TargetMode="Externa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
              <a:t>UT</a:t>
            </a:r>
            <a:r>
              <a:rPr lang="es" sz="4650"/>
              <a:t>.7 SERVICIOS DE VOZ</a:t>
            </a:r>
            <a:endParaRPr sz="4650">
              <a:solidFill>
                <a:srgbClr val="000000"/>
              </a:solidFill>
            </a:endParaRPr>
          </a:p>
          <a:p>
            <a:pPr indent="0" lvl="0" marL="0" rtl="0" algn="l">
              <a:lnSpc>
                <a:spcPct val="100000"/>
              </a:lnSpc>
              <a:spcBef>
                <a:spcPts val="0"/>
              </a:spcBef>
              <a:spcAft>
                <a:spcPts val="0"/>
              </a:spcAft>
              <a:buSzPts val="4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
        <p:nvSpPr>
          <p:cNvPr id="93" name="Google Shape;93;p14"/>
          <p:cNvSpPr txBox="1"/>
          <p:nvPr/>
        </p:nvSpPr>
        <p:spPr>
          <a:xfrm>
            <a:off x="687150" y="599575"/>
            <a:ext cx="7688700" cy="535200"/>
          </a:xfrm>
          <a:prstGeom prst="rect">
            <a:avLst/>
          </a:prstGeom>
          <a:noFill/>
          <a:ln>
            <a:noFill/>
          </a:ln>
        </p:spPr>
        <p:txBody>
          <a:bodyPr anchorCtr="0" anchor="t" bIns="91425" lIns="91425" spcFirstLastPara="1" rIns="91425" wrap="square" tIns="91425">
            <a:normAutofit fontScale="9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s" sz="2600" u="none" cap="none" strike="noStrike">
                <a:solidFill>
                  <a:srgbClr val="1A1A1A"/>
                </a:solidFill>
                <a:latin typeface="Raleway"/>
                <a:ea typeface="Raleway"/>
                <a:cs typeface="Raleway"/>
                <a:sym typeface="Raleway"/>
              </a:rPr>
              <a:t>Bloques de la UT7:</a:t>
            </a:r>
            <a:endParaRPr b="1" i="0" sz="2600" u="none" cap="none" strike="noStrike">
              <a:solidFill>
                <a:srgbClr val="1A1A1A"/>
              </a:solidFill>
              <a:latin typeface="Raleway"/>
              <a:ea typeface="Raleway"/>
              <a:cs typeface="Raleway"/>
              <a:sym typeface="Raleway"/>
            </a:endParaRPr>
          </a:p>
        </p:txBody>
      </p:sp>
      <p:sp>
        <p:nvSpPr>
          <p:cNvPr id="94" name="Google Shape;94;p14"/>
          <p:cNvSpPr txBox="1"/>
          <p:nvPr/>
        </p:nvSpPr>
        <p:spPr>
          <a:xfrm>
            <a:off x="847602" y="1634488"/>
            <a:ext cx="7688700" cy="3002400"/>
          </a:xfrm>
          <a:prstGeom prst="rect">
            <a:avLst/>
          </a:prstGeom>
          <a:noFill/>
          <a:ln>
            <a:noFill/>
          </a:ln>
        </p:spPr>
        <p:txBody>
          <a:bodyPr anchorCtr="0" anchor="t" bIns="91425" lIns="91425" spcFirstLastPara="1" rIns="91425" wrap="square" tIns="91425">
            <a:normAutofit/>
          </a:bodyPr>
          <a:lstStyle/>
          <a:p>
            <a:pPr indent="-361950" lvl="0" marL="457200" marR="0" rtl="0" algn="l">
              <a:lnSpc>
                <a:spcPct val="115000"/>
              </a:lnSpc>
              <a:spcBef>
                <a:spcPts val="0"/>
              </a:spcBef>
              <a:spcAft>
                <a:spcPts val="0"/>
              </a:spcAft>
              <a:buClr>
                <a:srgbClr val="595959"/>
              </a:buClr>
              <a:buSzPts val="2100"/>
              <a:buFont typeface="Lato"/>
              <a:buAutoNum type="arabicPeriod"/>
            </a:pPr>
            <a:r>
              <a:rPr b="0" i="0" lang="es" sz="2100" u="none" cap="none" strike="noStrike">
                <a:solidFill>
                  <a:srgbClr val="595959"/>
                </a:solidFill>
                <a:latin typeface="Lato"/>
                <a:ea typeface="Lato"/>
                <a:cs typeface="Lato"/>
                <a:sym typeface="Lato"/>
              </a:rPr>
              <a:t>Amazon Polly</a:t>
            </a:r>
            <a:endParaRPr b="0" i="0" sz="2100" u="none" cap="none" strike="noStrike">
              <a:solidFill>
                <a:srgbClr val="595959"/>
              </a:solidFill>
              <a:latin typeface="Lato"/>
              <a:ea typeface="Lato"/>
              <a:cs typeface="Lato"/>
              <a:sym typeface="Lato"/>
            </a:endParaRPr>
          </a:p>
          <a:p>
            <a:pPr indent="-361950" lvl="0" marL="457200" marR="0" rtl="0" algn="l">
              <a:lnSpc>
                <a:spcPct val="115000"/>
              </a:lnSpc>
              <a:spcBef>
                <a:spcPts val="0"/>
              </a:spcBef>
              <a:spcAft>
                <a:spcPts val="0"/>
              </a:spcAft>
              <a:buClr>
                <a:srgbClr val="595959"/>
              </a:buClr>
              <a:buSzPts val="2100"/>
              <a:buFont typeface="Lato"/>
              <a:buAutoNum type="arabicPeriod"/>
            </a:pPr>
            <a:r>
              <a:rPr b="0" i="0" lang="es" sz="2100" u="none" cap="none" strike="noStrike">
                <a:solidFill>
                  <a:srgbClr val="595959"/>
                </a:solidFill>
                <a:latin typeface="Lato"/>
                <a:ea typeface="Lato"/>
                <a:cs typeface="Lato"/>
                <a:sym typeface="Lato"/>
              </a:rPr>
              <a:t>Marcas de Voz.</a:t>
            </a:r>
            <a:endParaRPr b="0" i="0" sz="2100" u="none" cap="none" strike="noStrike">
              <a:solidFill>
                <a:srgbClr val="595959"/>
              </a:solidFill>
              <a:latin typeface="Lato"/>
              <a:ea typeface="Lato"/>
              <a:cs typeface="Lato"/>
              <a:sym typeface="Lato"/>
            </a:endParaRPr>
          </a:p>
          <a:p>
            <a:pPr indent="-361950" lvl="0" marL="457200" marR="0" rtl="0" algn="l">
              <a:lnSpc>
                <a:spcPct val="115000"/>
              </a:lnSpc>
              <a:spcBef>
                <a:spcPts val="0"/>
              </a:spcBef>
              <a:spcAft>
                <a:spcPts val="0"/>
              </a:spcAft>
              <a:buClr>
                <a:srgbClr val="595959"/>
              </a:buClr>
              <a:buSzPts val="2100"/>
              <a:buFont typeface="Lato"/>
              <a:buAutoNum type="arabicPeriod"/>
            </a:pPr>
            <a:r>
              <a:rPr b="0" i="0" lang="es" sz="2100" u="none" cap="none" strike="noStrike">
                <a:solidFill>
                  <a:srgbClr val="595959"/>
                </a:solidFill>
                <a:latin typeface="Lato"/>
                <a:ea typeface="Lato"/>
                <a:cs typeface="Lato"/>
                <a:sym typeface="Lato"/>
              </a:rPr>
              <a:t>SSML.</a:t>
            </a:r>
            <a:endParaRPr b="0" i="0" sz="2100" u="none" cap="none" strike="noStrike">
              <a:solidFill>
                <a:srgbClr val="595959"/>
              </a:solidFill>
              <a:latin typeface="Lato"/>
              <a:ea typeface="Lato"/>
              <a:cs typeface="Lato"/>
              <a:sym typeface="Lato"/>
            </a:endParaRPr>
          </a:p>
          <a:p>
            <a:pPr indent="-361950" lvl="0" marL="457200" marR="0" rtl="0" algn="l">
              <a:lnSpc>
                <a:spcPct val="115000"/>
              </a:lnSpc>
              <a:spcBef>
                <a:spcPts val="0"/>
              </a:spcBef>
              <a:spcAft>
                <a:spcPts val="0"/>
              </a:spcAft>
              <a:buClr>
                <a:srgbClr val="595959"/>
              </a:buClr>
              <a:buSzPts val="2100"/>
              <a:buFont typeface="Lato"/>
              <a:buAutoNum type="arabicPeriod"/>
            </a:pPr>
            <a:r>
              <a:rPr b="0" i="0" lang="es" sz="2100" u="none" cap="none" strike="noStrike">
                <a:solidFill>
                  <a:srgbClr val="595959"/>
                </a:solidFill>
                <a:latin typeface="Lato"/>
                <a:ea typeface="Lato"/>
                <a:cs typeface="Lato"/>
                <a:sym typeface="Lato"/>
              </a:rPr>
              <a:t>Laboratorio 1: Amazon Polly</a:t>
            </a:r>
            <a:endParaRPr b="0" i="0" sz="2100" u="none" cap="none" strike="noStrike">
              <a:solidFill>
                <a:srgbClr val="595959"/>
              </a:solidFill>
              <a:latin typeface="Lato"/>
              <a:ea typeface="Lato"/>
              <a:cs typeface="Lato"/>
              <a:sym typeface="Lato"/>
            </a:endParaRPr>
          </a:p>
          <a:p>
            <a:pPr indent="-361950" lvl="0" marL="457200" marR="0" rtl="0" algn="l">
              <a:lnSpc>
                <a:spcPct val="115000"/>
              </a:lnSpc>
              <a:spcBef>
                <a:spcPts val="0"/>
              </a:spcBef>
              <a:spcAft>
                <a:spcPts val="0"/>
              </a:spcAft>
              <a:buClr>
                <a:schemeClr val="accent1"/>
              </a:buClr>
              <a:buSzPts val="2100"/>
              <a:buFont typeface="Lato"/>
              <a:buAutoNum type="arabicPeriod"/>
            </a:pPr>
            <a:r>
              <a:rPr b="0" i="0" lang="es" sz="2100" u="none" cap="none" strike="noStrike">
                <a:solidFill>
                  <a:schemeClr val="accent1"/>
                </a:solidFill>
                <a:latin typeface="Lato"/>
                <a:ea typeface="Lato"/>
                <a:cs typeface="Lato"/>
                <a:sym typeface="Lato"/>
              </a:rPr>
              <a:t>Laboratorio 2: Gestión de costos.</a:t>
            </a:r>
            <a:endParaRPr b="0" i="0" sz="2100" u="none" cap="none" strike="noStrike">
              <a:solidFill>
                <a:schemeClr val="accent1"/>
              </a:solidFill>
              <a:latin typeface="Lato"/>
              <a:ea typeface="Lato"/>
              <a:cs typeface="Lato"/>
              <a:sym typeface="Lato"/>
            </a:endParaRPr>
          </a:p>
          <a:p>
            <a:pPr indent="0" lvl="0" marL="457200" marR="0" rtl="0" algn="l">
              <a:lnSpc>
                <a:spcPct val="115000"/>
              </a:lnSpc>
              <a:spcBef>
                <a:spcPts val="1200"/>
              </a:spcBef>
              <a:spcAft>
                <a:spcPts val="1200"/>
              </a:spcAft>
              <a:buClr>
                <a:srgbClr val="000000"/>
              </a:buClr>
              <a:buSzPts val="2100"/>
              <a:buFont typeface="Arial"/>
              <a:buNone/>
            </a:pPr>
            <a:r>
              <a:t/>
            </a:r>
            <a:endParaRPr b="0" i="0" sz="2100" u="none" cap="none" strike="noStrike">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00" name="Google Shape;100;p15"/>
          <p:cNvSpPr txBox="1"/>
          <p:nvPr>
            <p:ph idx="1" type="body"/>
          </p:nvPr>
        </p:nvSpPr>
        <p:spPr>
          <a:xfrm>
            <a:off x="729450" y="1381050"/>
            <a:ext cx="7688700" cy="2958900"/>
          </a:xfrm>
          <a:prstGeom prst="rect">
            <a:avLst/>
          </a:prstGeom>
          <a:noFill/>
          <a:ln>
            <a:noFill/>
          </a:ln>
        </p:spPr>
        <p:txBody>
          <a:bodyPr anchorCtr="0" anchor="t" bIns="91425" lIns="91425" spcFirstLastPara="1" rIns="91425" wrap="square" tIns="91425">
            <a:normAutofit/>
          </a:bodyPr>
          <a:lstStyle/>
          <a:p>
            <a:pPr indent="0" lvl="0" marL="0" marR="0" rtl="0" algn="just">
              <a:lnSpc>
                <a:spcPct val="95000"/>
              </a:lnSpc>
              <a:spcBef>
                <a:spcPts val="0"/>
              </a:spcBef>
              <a:spcAft>
                <a:spcPts val="0"/>
              </a:spcAft>
              <a:buSzPts val="1300"/>
              <a:buNone/>
            </a:pPr>
            <a:r>
              <a:rPr lang="es" sz="2000">
                <a:solidFill>
                  <a:srgbClr val="000000"/>
                </a:solidFill>
                <a:latin typeface="Arial"/>
                <a:ea typeface="Arial"/>
                <a:cs typeface="Arial"/>
                <a:sym typeface="Arial"/>
              </a:rPr>
              <a:t>Amazon Polly es un servicio en la nube que convierte el texto en un segmento hablado muy realista.</a:t>
            </a:r>
            <a:endParaRPr sz="2000">
              <a:solidFill>
                <a:srgbClr val="000000"/>
              </a:solidFill>
              <a:latin typeface="Arial"/>
              <a:ea typeface="Arial"/>
              <a:cs typeface="Arial"/>
              <a:sym typeface="Arial"/>
            </a:endParaRPr>
          </a:p>
          <a:p>
            <a:pPr indent="0" lvl="0" marL="0" marR="0" rtl="0" algn="just">
              <a:lnSpc>
                <a:spcPct val="95000"/>
              </a:lnSpc>
              <a:spcBef>
                <a:spcPts val="1200"/>
              </a:spcBef>
              <a:spcAft>
                <a:spcPts val="0"/>
              </a:spcAft>
              <a:buSzPts val="1300"/>
              <a:buNone/>
            </a:pPr>
            <a:r>
              <a:rPr lang="es" sz="2000">
                <a:solidFill>
                  <a:srgbClr val="000000"/>
                </a:solidFill>
                <a:latin typeface="Arial"/>
                <a:ea typeface="Arial"/>
                <a:cs typeface="Arial"/>
                <a:sym typeface="Arial"/>
              </a:rPr>
              <a:t>Incluye una serie de voces de texto a voz neuronal (NTTS), que ofrecen mejoras revolucionarias en la calidad del habla gracias a un nuevo enfoque de aprendizaje automático.</a:t>
            </a:r>
            <a:endParaRPr sz="2000">
              <a:solidFill>
                <a:srgbClr val="000000"/>
              </a:solidFill>
              <a:latin typeface="Arial"/>
              <a:ea typeface="Arial"/>
              <a:cs typeface="Arial"/>
              <a:sym typeface="Arial"/>
            </a:endParaRPr>
          </a:p>
          <a:p>
            <a:pPr indent="0" lvl="0" marL="0" marR="0" rtl="0" algn="l">
              <a:lnSpc>
                <a:spcPct val="95000"/>
              </a:lnSpc>
              <a:spcBef>
                <a:spcPts val="1200"/>
              </a:spcBef>
              <a:spcAft>
                <a:spcPts val="1200"/>
              </a:spcAft>
              <a:buSzPts val="1300"/>
              <a:buNone/>
            </a:pPr>
            <a:r>
              <a:rPr lang="es" sz="2000">
                <a:solidFill>
                  <a:srgbClr val="000000"/>
                </a:solidFill>
                <a:latin typeface="Arial"/>
                <a:ea typeface="Arial"/>
                <a:cs typeface="Arial"/>
                <a:sym typeface="Arial"/>
              </a:rPr>
              <a:t>La tecnología TTS neuronal también admite un estilo de habla Newscaster adaptado a casos de uso de locución de noticias. </a:t>
            </a:r>
            <a:endParaRPr/>
          </a:p>
        </p:txBody>
      </p:sp>
      <p:sp>
        <p:nvSpPr>
          <p:cNvPr id="101" name="Google Shape;101;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07" name="Google Shape;107;p16"/>
          <p:cNvSpPr txBox="1"/>
          <p:nvPr>
            <p:ph idx="1" type="body"/>
          </p:nvPr>
        </p:nvSpPr>
        <p:spPr>
          <a:xfrm>
            <a:off x="729450" y="1381050"/>
            <a:ext cx="7688700" cy="2958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Los casos de uso más comunes de Amazon Polly son:</a:t>
            </a:r>
            <a:endParaRPr sz="2000">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lang="es" sz="2000">
                <a:solidFill>
                  <a:srgbClr val="000000"/>
                </a:solidFill>
                <a:latin typeface="Arial"/>
                <a:ea typeface="Arial"/>
                <a:cs typeface="Arial"/>
                <a:sym typeface="Arial"/>
              </a:rPr>
              <a:t>Las aplicaciones móviles.</a:t>
            </a:r>
            <a:endParaRPr sz="20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2000">
                <a:solidFill>
                  <a:srgbClr val="000000"/>
                </a:solidFill>
                <a:latin typeface="Arial"/>
                <a:ea typeface="Arial"/>
                <a:cs typeface="Arial"/>
                <a:sym typeface="Arial"/>
              </a:rPr>
              <a:t>Lectores de noticias, juegos.</a:t>
            </a:r>
            <a:endParaRPr sz="20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2000">
                <a:solidFill>
                  <a:srgbClr val="000000"/>
                </a:solidFill>
                <a:latin typeface="Arial"/>
                <a:ea typeface="Arial"/>
                <a:cs typeface="Arial"/>
                <a:sym typeface="Arial"/>
              </a:rPr>
              <a:t>Plataformas de recursos de aprendizaje electrónicos. </a:t>
            </a:r>
            <a:endParaRPr sz="20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2000">
                <a:solidFill>
                  <a:srgbClr val="000000"/>
                </a:solidFill>
                <a:latin typeface="Arial"/>
                <a:ea typeface="Arial"/>
                <a:cs typeface="Arial"/>
                <a:sym typeface="Arial"/>
              </a:rPr>
              <a:t>Aplicaciones de accesibilidad para personas con discapacidad. </a:t>
            </a:r>
            <a:endParaRPr sz="20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2000">
                <a:solidFill>
                  <a:srgbClr val="000000"/>
                </a:solidFill>
                <a:latin typeface="Arial"/>
                <a:ea typeface="Arial"/>
                <a:cs typeface="Arial"/>
                <a:sym typeface="Arial"/>
              </a:rPr>
              <a:t>Segmento de Internet de las cosas (IoT), en rápido crecimiento.</a:t>
            </a:r>
            <a:endParaRPr/>
          </a:p>
        </p:txBody>
      </p:sp>
      <p:sp>
        <p:nvSpPr>
          <p:cNvPr id="108" name="Google Shape;108;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14" name="Google Shape;114;p17"/>
          <p:cNvSpPr txBox="1"/>
          <p:nvPr>
            <p:ph idx="1" type="body"/>
          </p:nvPr>
        </p:nvSpPr>
        <p:spPr>
          <a:xfrm>
            <a:off x="729450" y="1381050"/>
            <a:ext cx="7688700" cy="29589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Ventajas:</a:t>
            </a:r>
            <a:endParaRPr sz="2000">
              <a:solidFill>
                <a:srgbClr val="000000"/>
              </a:solidFill>
              <a:latin typeface="Arial"/>
              <a:ea typeface="Arial"/>
              <a:cs typeface="Arial"/>
              <a:sym typeface="Arial"/>
            </a:endParaRPr>
          </a:p>
          <a:p>
            <a:pPr indent="-336550" lvl="0" marL="457200" rtl="0" algn="l">
              <a:lnSpc>
                <a:spcPct val="115000"/>
              </a:lnSpc>
              <a:spcBef>
                <a:spcPts val="1200"/>
              </a:spcBef>
              <a:spcAft>
                <a:spcPts val="0"/>
              </a:spcAft>
              <a:buClr>
                <a:srgbClr val="000000"/>
              </a:buClr>
              <a:buSzPct val="100000"/>
              <a:buFont typeface="Arial"/>
              <a:buChar char="●"/>
            </a:pPr>
            <a:r>
              <a:rPr b="1" lang="es" sz="2000">
                <a:solidFill>
                  <a:srgbClr val="000000"/>
                </a:solidFill>
                <a:latin typeface="Arial"/>
                <a:ea typeface="Arial"/>
                <a:cs typeface="Arial"/>
                <a:sym typeface="Arial"/>
              </a:rPr>
              <a:t>Calidad: </a:t>
            </a:r>
            <a:r>
              <a:rPr lang="es" sz="2000">
                <a:solidFill>
                  <a:srgbClr val="000000"/>
                </a:solidFill>
                <a:latin typeface="Arial"/>
                <a:ea typeface="Arial"/>
                <a:cs typeface="Arial"/>
                <a:sym typeface="Arial"/>
              </a:rPr>
              <a:t>Amazon Polly ofrece tanto el nuevo TTS neuronal como la mejor tecnología TTS estándar para sintetizar el lenguaje natural superior con una pronunciación muy precisa (incluida la expansión de abreviaturas y acrónimos, la interpretación de fechas y horas y la desambiguación homográfica)</a:t>
            </a:r>
            <a:r>
              <a:rPr lang="e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87972" lvl="0" marL="457200" rtl="0" algn="l">
              <a:lnSpc>
                <a:spcPct val="115000"/>
              </a:lnSpc>
              <a:spcBef>
                <a:spcPts val="0"/>
              </a:spcBef>
              <a:spcAft>
                <a:spcPts val="0"/>
              </a:spcAft>
              <a:buClr>
                <a:srgbClr val="000000"/>
              </a:buClr>
              <a:buSzPct val="55000"/>
              <a:buFont typeface="Arial"/>
              <a:buChar char="●"/>
            </a:pPr>
            <a:r>
              <a:rPr b="1" lang="es" sz="2000">
                <a:solidFill>
                  <a:srgbClr val="000000"/>
                </a:solidFill>
                <a:latin typeface="Arial"/>
                <a:ea typeface="Arial"/>
                <a:cs typeface="Arial"/>
                <a:sym typeface="Arial"/>
              </a:rPr>
              <a:t>Baja latencia:</a:t>
            </a:r>
            <a:r>
              <a:rPr lang="es" sz="2000">
                <a:solidFill>
                  <a:srgbClr val="000000"/>
                </a:solidFill>
                <a:latin typeface="Arial"/>
                <a:ea typeface="Arial"/>
                <a:cs typeface="Arial"/>
                <a:sym typeface="Arial"/>
              </a:rPr>
              <a:t> Amazon Polly garantizar respuestas rápidas, lo que la convierte en una opción viable para casos de uso de baja latencia, como los sistemas de diálogo.</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17647"/>
              <a:buNone/>
            </a:pPr>
            <a:r>
              <a:t/>
            </a:r>
            <a:endParaRPr/>
          </a:p>
        </p:txBody>
      </p:sp>
      <p:sp>
        <p:nvSpPr>
          <p:cNvPr id="115" name="Google Shape;115;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21" name="Google Shape;121;p18"/>
          <p:cNvSpPr txBox="1"/>
          <p:nvPr>
            <p:ph idx="1" type="body"/>
          </p:nvPr>
        </p:nvSpPr>
        <p:spPr>
          <a:xfrm>
            <a:off x="729450" y="1381050"/>
            <a:ext cx="7688700" cy="3368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Ventajas:</a:t>
            </a:r>
            <a:endParaRPr sz="2000">
              <a:solidFill>
                <a:srgbClr val="000000"/>
              </a:solidFill>
              <a:latin typeface="Arial"/>
              <a:ea typeface="Arial"/>
              <a:cs typeface="Arial"/>
              <a:sym typeface="Arial"/>
            </a:endParaRPr>
          </a:p>
          <a:p>
            <a:pPr indent="-346075" lvl="0" marL="457200" rtl="0" algn="l">
              <a:lnSpc>
                <a:spcPct val="115000"/>
              </a:lnSpc>
              <a:spcBef>
                <a:spcPts val="1200"/>
              </a:spcBef>
              <a:spcAft>
                <a:spcPts val="0"/>
              </a:spcAft>
              <a:buClr>
                <a:srgbClr val="000000"/>
              </a:buClr>
              <a:buSzPct val="100000"/>
              <a:buFont typeface="Arial"/>
              <a:buChar char="●"/>
            </a:pPr>
            <a:r>
              <a:rPr b="1" lang="es" sz="2000">
                <a:solidFill>
                  <a:srgbClr val="000000"/>
                </a:solidFill>
                <a:latin typeface="Arial"/>
                <a:ea typeface="Arial"/>
                <a:cs typeface="Arial"/>
                <a:sym typeface="Arial"/>
              </a:rPr>
              <a:t>Soporte para una amplia cartera de idiomas y voces</a:t>
            </a:r>
            <a:r>
              <a:rPr lang="es" sz="1100">
                <a:solidFill>
                  <a:srgbClr val="000000"/>
                </a:solidFill>
                <a:latin typeface="Arial"/>
                <a:ea typeface="Arial"/>
                <a:cs typeface="Arial"/>
                <a:sym typeface="Arial"/>
              </a:rPr>
              <a:t>:</a:t>
            </a:r>
            <a:r>
              <a:rPr lang="es" sz="2000">
                <a:solidFill>
                  <a:srgbClr val="000000"/>
                </a:solidFill>
                <a:latin typeface="Arial"/>
                <a:ea typeface="Arial"/>
                <a:cs typeface="Arial"/>
                <a:sym typeface="Arial"/>
              </a:rPr>
              <a:t> Amazon Polly admite docenas de idiomas de voces, la mayoría de los cuales disponen de voces masculinas y femeninas. En la actualidad, el sistema TTS neuronal admite tres voces en inglés británico y ocho voces en inglés de Estados Unidos. Este número sigue aumentando, ahora mismo español - méxico en experimental. Las voces de Matthew y Joanna en inglés de Estados Unidos también pueden utilizar el estilo de habla neuronal Newscaster, similar al de un locutor de noticias profesional.</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ct val="108108"/>
              <a:buNone/>
            </a:pPr>
            <a:r>
              <a:t/>
            </a:r>
            <a:endParaRPr/>
          </a:p>
        </p:txBody>
      </p:sp>
      <p:sp>
        <p:nvSpPr>
          <p:cNvPr id="122" name="Google Shape;122;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28" name="Google Shape;128;p19"/>
          <p:cNvSpPr txBox="1"/>
          <p:nvPr>
            <p:ph idx="1" type="body"/>
          </p:nvPr>
        </p:nvSpPr>
        <p:spPr>
          <a:xfrm>
            <a:off x="729450" y="1381050"/>
            <a:ext cx="7688700" cy="3265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Ventajas:</a:t>
            </a:r>
            <a:endParaRPr sz="20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s" sz="2000">
                <a:solidFill>
                  <a:srgbClr val="000000"/>
                </a:solidFill>
                <a:latin typeface="Arial"/>
                <a:ea typeface="Arial"/>
                <a:cs typeface="Arial"/>
                <a:sym typeface="Arial"/>
              </a:rPr>
              <a:t>Rentabilidad</a:t>
            </a:r>
            <a:r>
              <a:rPr lang="es" sz="1100">
                <a:solidFill>
                  <a:srgbClr val="000000"/>
                </a:solidFill>
                <a:latin typeface="Arial"/>
                <a:ea typeface="Arial"/>
                <a:cs typeface="Arial"/>
                <a:sym typeface="Arial"/>
              </a:rPr>
              <a:t>: </a:t>
            </a:r>
            <a:r>
              <a:rPr lang="es" sz="2000">
                <a:solidFill>
                  <a:srgbClr val="000000"/>
                </a:solidFill>
                <a:latin typeface="Arial"/>
                <a:ea typeface="Arial"/>
                <a:cs typeface="Arial"/>
                <a:sym typeface="Arial"/>
              </a:rPr>
              <a:t>el modelo de pago por uso de Amazon Polly significa que no hay costos de instalación. Se puede comenzar con pocos recursos e ir aumentándole a medida que crece la aplicación.</a:t>
            </a:r>
            <a:endParaRPr sz="20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2000">
                <a:solidFill>
                  <a:srgbClr val="000000"/>
                </a:solidFill>
                <a:latin typeface="Arial"/>
                <a:ea typeface="Arial"/>
                <a:cs typeface="Arial"/>
                <a:sym typeface="Arial"/>
              </a:rPr>
              <a:t>Solución basada en la nube: </a:t>
            </a:r>
            <a:r>
              <a:rPr lang="es" sz="2000">
                <a:solidFill>
                  <a:srgbClr val="000000"/>
                </a:solidFill>
                <a:latin typeface="Arial"/>
                <a:ea typeface="Arial"/>
                <a:cs typeface="Arial"/>
                <a:sym typeface="Arial"/>
              </a:rPr>
              <a:t>Las soluciones TTS instaladas en los dispositivos necesitan importantes recursos informáticos y una gran potencia de GPU, así como gran cantidad de RAM y de espacio en disco. Con una solución con esta arquitectura tiene este ahorro de costos.</a:t>
            </a:r>
            <a:endParaRPr b="1" sz="2000">
              <a:solidFill>
                <a:srgbClr val="000000"/>
              </a:solidFill>
              <a:latin typeface="Arial"/>
              <a:ea typeface="Arial"/>
              <a:cs typeface="Arial"/>
              <a:sym typeface="Arial"/>
            </a:endParaRPr>
          </a:p>
        </p:txBody>
      </p:sp>
      <p:sp>
        <p:nvSpPr>
          <p:cNvPr id="129" name="Google Shape;129;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35" name="Google Shape;135;p20"/>
          <p:cNvSpPr txBox="1"/>
          <p:nvPr>
            <p:ph idx="1" type="body"/>
          </p:nvPr>
        </p:nvSpPr>
        <p:spPr>
          <a:xfrm>
            <a:off x="727650" y="1194925"/>
            <a:ext cx="7688700" cy="198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Arquitectura:</a:t>
            </a:r>
            <a:endParaRPr sz="20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ts val="1300"/>
              <a:buNone/>
            </a:pPr>
            <a:r>
              <a:t/>
            </a:r>
            <a:endParaRPr b="1" sz="2000">
              <a:solidFill>
                <a:srgbClr val="000000"/>
              </a:solidFill>
              <a:latin typeface="Arial"/>
              <a:ea typeface="Arial"/>
              <a:cs typeface="Arial"/>
              <a:sym typeface="Arial"/>
            </a:endParaRPr>
          </a:p>
        </p:txBody>
      </p:sp>
      <p:sp>
        <p:nvSpPr>
          <p:cNvPr id="136" name="Google Shape;136;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137" name="Google Shape;137;p20"/>
          <p:cNvPicPr preferRelativeResize="0"/>
          <p:nvPr/>
        </p:nvPicPr>
        <p:blipFill rotWithShape="1">
          <a:blip r:embed="rId3">
            <a:alphaModFix/>
          </a:blip>
          <a:srcRect b="0" l="0" r="0" t="0"/>
          <a:stretch/>
        </p:blipFill>
        <p:spPr>
          <a:xfrm>
            <a:off x="2182750" y="1541975"/>
            <a:ext cx="6116925" cy="3066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43" name="Google Shape;143;p21"/>
          <p:cNvSpPr txBox="1"/>
          <p:nvPr>
            <p:ph idx="1" type="body"/>
          </p:nvPr>
        </p:nvSpPr>
        <p:spPr>
          <a:xfrm>
            <a:off x="727650" y="1194925"/>
            <a:ext cx="7688700" cy="1988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Arquitectura:</a:t>
            </a:r>
            <a:endParaRPr sz="20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ts val="1300"/>
              <a:buNone/>
            </a:pPr>
            <a:r>
              <a:t/>
            </a:r>
            <a:endParaRPr b="1" sz="2000">
              <a:solidFill>
                <a:srgbClr val="000000"/>
              </a:solidFill>
              <a:latin typeface="Arial"/>
              <a:ea typeface="Arial"/>
              <a:cs typeface="Arial"/>
              <a:sym typeface="Arial"/>
            </a:endParaRPr>
          </a:p>
        </p:txBody>
      </p:sp>
      <p:sp>
        <p:nvSpPr>
          <p:cNvPr id="144" name="Google Shape;144;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145" name="Google Shape;145;p21"/>
          <p:cNvPicPr preferRelativeResize="0"/>
          <p:nvPr/>
        </p:nvPicPr>
        <p:blipFill rotWithShape="1">
          <a:blip r:embed="rId3">
            <a:alphaModFix/>
          </a:blip>
          <a:srcRect b="0" l="0" r="0" t="0"/>
          <a:stretch/>
        </p:blipFill>
        <p:spPr>
          <a:xfrm>
            <a:off x="1882100" y="1563325"/>
            <a:ext cx="6197150" cy="3186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51" name="Google Shape;151;p22"/>
          <p:cNvSpPr txBox="1"/>
          <p:nvPr>
            <p:ph idx="1" type="body"/>
          </p:nvPr>
        </p:nvSpPr>
        <p:spPr>
          <a:xfrm>
            <a:off x="729450" y="1381050"/>
            <a:ext cx="7688700" cy="31809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Elementos:</a:t>
            </a:r>
            <a:endParaRPr sz="2000">
              <a:solidFill>
                <a:srgbClr val="000000"/>
              </a:solidFill>
              <a:latin typeface="Arial"/>
              <a:ea typeface="Arial"/>
              <a:cs typeface="Arial"/>
              <a:sym typeface="Arial"/>
            </a:endParaRPr>
          </a:p>
          <a:p>
            <a:pPr indent="-293211" lvl="0" marL="457200" rtl="0" algn="l">
              <a:lnSpc>
                <a:spcPct val="115000"/>
              </a:lnSpc>
              <a:spcBef>
                <a:spcPts val="1200"/>
              </a:spcBef>
              <a:spcAft>
                <a:spcPts val="0"/>
              </a:spcAft>
              <a:buClr>
                <a:srgbClr val="000000"/>
              </a:buClr>
              <a:buSzPct val="55000"/>
              <a:buFont typeface="Arial"/>
              <a:buChar char="●"/>
            </a:pPr>
            <a:r>
              <a:rPr b="1" lang="es" sz="2000">
                <a:solidFill>
                  <a:srgbClr val="000000"/>
                </a:solidFill>
                <a:latin typeface="Arial"/>
                <a:ea typeface="Arial"/>
                <a:cs typeface="Arial"/>
                <a:sym typeface="Arial"/>
              </a:rPr>
              <a:t>Text Input: </a:t>
            </a:r>
            <a:r>
              <a:rPr lang="es" sz="2000">
                <a:solidFill>
                  <a:srgbClr val="000000"/>
                </a:solidFill>
                <a:latin typeface="Arial"/>
                <a:ea typeface="Arial"/>
                <a:cs typeface="Arial"/>
                <a:sym typeface="Arial"/>
              </a:rPr>
              <a:t>Para introducir el texto que desea sintetizar y Amazon Polly devolverá una secuencia de audio. Se puede proporcionar la entrada como texto sin formato o con el formato Speech Synthesis Markup Language (SSML). Si se utiliza SSML, podrá controlar diferentes aspectos del fragmento hablado, como la pronunciación, el volumen, el tono y la velocidad de habla. </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ct val="70270"/>
              <a:buNone/>
            </a:pPr>
            <a:r>
              <a:t/>
            </a:r>
            <a:endParaRPr b="1" sz="2000">
              <a:solidFill>
                <a:srgbClr val="000000"/>
              </a:solidFill>
              <a:latin typeface="Arial"/>
              <a:ea typeface="Arial"/>
              <a:cs typeface="Arial"/>
              <a:sym typeface="Arial"/>
            </a:endParaRPr>
          </a:p>
        </p:txBody>
      </p:sp>
      <p:sp>
        <p:nvSpPr>
          <p:cNvPr id="152" name="Google Shape;152;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58" name="Google Shape;158;p23"/>
          <p:cNvSpPr txBox="1"/>
          <p:nvPr>
            <p:ph idx="1" type="body"/>
          </p:nvPr>
        </p:nvSpPr>
        <p:spPr>
          <a:xfrm>
            <a:off x="729450" y="1381050"/>
            <a:ext cx="7688700" cy="30033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Elementos:</a:t>
            </a:r>
            <a:endParaRPr sz="2000">
              <a:solidFill>
                <a:srgbClr val="000000"/>
              </a:solidFill>
              <a:latin typeface="Arial"/>
              <a:ea typeface="Arial"/>
              <a:cs typeface="Arial"/>
              <a:sym typeface="Arial"/>
            </a:endParaRPr>
          </a:p>
          <a:p>
            <a:pPr indent="-287972" lvl="0" marL="457200" rtl="0" algn="l">
              <a:lnSpc>
                <a:spcPct val="115000"/>
              </a:lnSpc>
              <a:spcBef>
                <a:spcPts val="1200"/>
              </a:spcBef>
              <a:spcAft>
                <a:spcPts val="0"/>
              </a:spcAft>
              <a:buClr>
                <a:srgbClr val="000000"/>
              </a:buClr>
              <a:buSzPct val="55000"/>
              <a:buFont typeface="Arial"/>
              <a:buChar char="●"/>
            </a:pPr>
            <a:r>
              <a:rPr b="1" lang="es" sz="2000">
                <a:solidFill>
                  <a:srgbClr val="000000"/>
                </a:solidFill>
                <a:latin typeface="Arial"/>
                <a:ea typeface="Arial"/>
                <a:cs typeface="Arial"/>
                <a:sym typeface="Arial"/>
              </a:rPr>
              <a:t>Voces disponibles: </a:t>
            </a:r>
            <a:r>
              <a:rPr lang="es" sz="2000">
                <a:solidFill>
                  <a:srgbClr val="000000"/>
                </a:solidFill>
                <a:latin typeface="Arial"/>
                <a:ea typeface="Arial"/>
                <a:cs typeface="Arial"/>
                <a:sym typeface="Arial"/>
              </a:rPr>
              <a:t>Amazon Polly proporciona una serie de idiomas y diversas voces, incluida una voz bilingüe (tanto para inglés como para hindi). En la mayoría de los idiomas, puede elegir entre varias voces, tanto masculinas como femeninas. Al lanzar una tarea de síntesis de voz, especifique el ID de la voz. Amazon Polly utilizará esta voz para convertir el texto en voz. Amazon Polly no es un servicio de traducción: el fragmento sintetizado está en el mismo idioma que el texto. </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ct val="76471"/>
              <a:buNone/>
            </a:pPr>
            <a:r>
              <a:t/>
            </a:r>
            <a:endParaRPr b="1" sz="2000">
              <a:solidFill>
                <a:srgbClr val="000000"/>
              </a:solidFill>
              <a:latin typeface="Arial"/>
              <a:ea typeface="Arial"/>
              <a:cs typeface="Arial"/>
              <a:sym typeface="Arial"/>
            </a:endParaRPr>
          </a:p>
        </p:txBody>
      </p:sp>
      <p:sp>
        <p:nvSpPr>
          <p:cNvPr id="159" name="Google Shape;159;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377190" lvl="0" marL="457200" rtl="0" algn="l">
              <a:lnSpc>
                <a:spcPct val="100000"/>
              </a:lnSpc>
              <a:spcBef>
                <a:spcPts val="0"/>
              </a:spcBef>
              <a:spcAft>
                <a:spcPts val="0"/>
              </a:spcAft>
              <a:buSzPct val="100000"/>
              <a:buAutoNum type="arabicPeriod"/>
            </a:pPr>
            <a:r>
              <a:rPr lang="es"/>
              <a:t>Amazon Polly</a:t>
            </a:r>
            <a:endParaRPr/>
          </a:p>
        </p:txBody>
      </p:sp>
      <p:sp>
        <p:nvSpPr>
          <p:cNvPr id="165" name="Google Shape;165;p24"/>
          <p:cNvSpPr txBox="1"/>
          <p:nvPr>
            <p:ph idx="1" type="body"/>
          </p:nvPr>
        </p:nvSpPr>
        <p:spPr>
          <a:xfrm>
            <a:off x="729450" y="1381050"/>
            <a:ext cx="7688700" cy="3003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Elementos:</a:t>
            </a:r>
            <a:endParaRPr sz="2000">
              <a:solidFill>
                <a:srgbClr val="000000"/>
              </a:solidFill>
              <a:latin typeface="Arial"/>
              <a:ea typeface="Arial"/>
              <a:cs typeface="Arial"/>
              <a:sym typeface="Arial"/>
            </a:endParaRPr>
          </a:p>
          <a:p>
            <a:pPr indent="-293211" lvl="0" marL="457200" rtl="0" algn="l">
              <a:lnSpc>
                <a:spcPct val="115000"/>
              </a:lnSpc>
              <a:spcBef>
                <a:spcPts val="1200"/>
              </a:spcBef>
              <a:spcAft>
                <a:spcPts val="0"/>
              </a:spcAft>
              <a:buClr>
                <a:srgbClr val="000000"/>
              </a:buClr>
              <a:buSzPct val="55000"/>
              <a:buFont typeface="Arial"/>
              <a:buChar char="●"/>
            </a:pPr>
            <a:r>
              <a:rPr b="1" lang="es" sz="2000">
                <a:solidFill>
                  <a:srgbClr val="000000"/>
                </a:solidFill>
                <a:latin typeface="Arial"/>
                <a:ea typeface="Arial"/>
                <a:cs typeface="Arial"/>
                <a:sym typeface="Arial"/>
              </a:rPr>
              <a:t>Formato de salida: </a:t>
            </a:r>
            <a:r>
              <a:rPr lang="es" sz="2000">
                <a:solidFill>
                  <a:srgbClr val="000000"/>
                </a:solidFill>
                <a:latin typeface="Arial"/>
                <a:ea typeface="Arial"/>
                <a:cs typeface="Arial"/>
                <a:sym typeface="Arial"/>
              </a:rPr>
              <a:t>Amazon Polly puede proporcionar el resultado de la síntesis de voz en varios formatos. Puede seleccionar el formato de audio que mejor se adapte a sus necesidades. Por ejemplo, podría preferir el formato MP3 u Ogg Vorbis para utilizarlo en las aplicaciones web y móviles. O el formato de salida PCM para los dispositivos y las soluciones de telefonía de AWS IoT</a:t>
            </a: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ct val="70270"/>
              <a:buNone/>
            </a:pPr>
            <a:r>
              <a:t/>
            </a:r>
            <a:endParaRPr b="1" sz="2000">
              <a:solidFill>
                <a:srgbClr val="000000"/>
              </a:solidFill>
              <a:latin typeface="Arial"/>
              <a:ea typeface="Arial"/>
              <a:cs typeface="Arial"/>
              <a:sym typeface="Arial"/>
            </a:endParaRPr>
          </a:p>
        </p:txBody>
      </p:sp>
      <p:sp>
        <p:nvSpPr>
          <p:cNvPr id="166" name="Google Shape;166;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  Marcas de Voz.</a:t>
            </a:r>
            <a:endParaRPr/>
          </a:p>
        </p:txBody>
      </p:sp>
      <p:sp>
        <p:nvSpPr>
          <p:cNvPr id="172" name="Google Shape;172;p25"/>
          <p:cNvSpPr txBox="1"/>
          <p:nvPr>
            <p:ph idx="1" type="body"/>
          </p:nvPr>
        </p:nvSpPr>
        <p:spPr>
          <a:xfrm>
            <a:off x="729450" y="1381050"/>
            <a:ext cx="7688700" cy="3003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Las marcas de voz son metadatos que describen el fragmento que se sintetiza; por ejemplo, dónde empieza y termina una palabra o una frase en la secuencia de audio.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La aplicación es cuando se está combinando animación y audio, entonces necesita saber cuándo comienza y termina cada palabra, por lo que es posible sincronizar las expresiones faciales con el discurso.</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0270"/>
              <a:buNone/>
            </a:pPr>
            <a:r>
              <a:rPr lang="es" sz="2000">
                <a:solidFill>
                  <a:srgbClr val="000000"/>
                </a:solidFill>
                <a:latin typeface="Arial"/>
                <a:ea typeface="Arial"/>
                <a:cs typeface="Arial"/>
                <a:sym typeface="Arial"/>
              </a:rPr>
              <a:t>Otro ejemplo del uso de marcas de voz es cuando desea resaltar palabras a medida que se pronuncian, como en los subtítulos.</a:t>
            </a:r>
            <a:endParaRPr b="1" sz="2000">
              <a:solidFill>
                <a:srgbClr val="000000"/>
              </a:solidFill>
              <a:latin typeface="Arial"/>
              <a:ea typeface="Arial"/>
              <a:cs typeface="Arial"/>
              <a:sym typeface="Arial"/>
            </a:endParaRPr>
          </a:p>
        </p:txBody>
      </p:sp>
      <p:sp>
        <p:nvSpPr>
          <p:cNvPr id="173" name="Google Shape;173;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  Marcas de Voz.</a:t>
            </a:r>
            <a:endParaRPr/>
          </a:p>
        </p:txBody>
      </p:sp>
      <p:sp>
        <p:nvSpPr>
          <p:cNvPr id="179" name="Google Shape;179;p26"/>
          <p:cNvSpPr txBox="1"/>
          <p:nvPr>
            <p:ph idx="1" type="body"/>
          </p:nvPr>
        </p:nvSpPr>
        <p:spPr>
          <a:xfrm>
            <a:off x="729450" y="1381050"/>
            <a:ext cx="7688700" cy="3003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Aplica a los siguientes elementos:</a:t>
            </a:r>
            <a:endParaRPr sz="20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s" sz="2000">
                <a:solidFill>
                  <a:srgbClr val="000000"/>
                </a:solidFill>
                <a:latin typeface="Arial"/>
                <a:ea typeface="Arial"/>
                <a:cs typeface="Arial"/>
                <a:sym typeface="Arial"/>
              </a:rPr>
              <a:t>Sentence:</a:t>
            </a:r>
            <a:r>
              <a:rPr lang="es" sz="2000">
                <a:solidFill>
                  <a:srgbClr val="000000"/>
                </a:solidFill>
                <a:latin typeface="Arial"/>
                <a:ea typeface="Arial"/>
                <a:cs typeface="Arial"/>
                <a:sym typeface="Arial"/>
              </a:rPr>
              <a:t> sirve para señalar frases en el texto de entrada.</a:t>
            </a:r>
            <a:endParaRPr sz="20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2000">
                <a:solidFill>
                  <a:srgbClr val="000000"/>
                </a:solidFill>
                <a:latin typeface="Arial"/>
                <a:ea typeface="Arial"/>
                <a:cs typeface="Arial"/>
                <a:sym typeface="Arial"/>
              </a:rPr>
              <a:t>Word:</a:t>
            </a:r>
            <a:r>
              <a:rPr lang="es" sz="2000">
                <a:solidFill>
                  <a:srgbClr val="000000"/>
                </a:solidFill>
                <a:latin typeface="Arial"/>
                <a:ea typeface="Arial"/>
                <a:cs typeface="Arial"/>
                <a:sym typeface="Arial"/>
              </a:rPr>
              <a:t> sirve para señalar palabras en el texto.</a:t>
            </a:r>
            <a:endParaRPr sz="20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2000">
                <a:solidFill>
                  <a:srgbClr val="000000"/>
                </a:solidFill>
                <a:latin typeface="Arial"/>
                <a:ea typeface="Arial"/>
                <a:cs typeface="Arial"/>
                <a:sym typeface="Arial"/>
              </a:rPr>
              <a:t>Ssml:</a:t>
            </a:r>
            <a:r>
              <a:rPr lang="es" sz="2000">
                <a:solidFill>
                  <a:srgbClr val="000000"/>
                </a:solidFill>
                <a:latin typeface="Arial"/>
                <a:ea typeface="Arial"/>
                <a:cs typeface="Arial"/>
                <a:sym typeface="Arial"/>
              </a:rPr>
              <a:t> describe un &lt;mark&gt; elemento del texto de entrada SSML.</a:t>
            </a:r>
            <a:endParaRPr sz="20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s" sz="2000">
                <a:solidFill>
                  <a:srgbClr val="000000"/>
                </a:solidFill>
                <a:latin typeface="Arial"/>
                <a:ea typeface="Arial"/>
                <a:cs typeface="Arial"/>
                <a:sym typeface="Arial"/>
              </a:rPr>
              <a:t>Visema</a:t>
            </a:r>
            <a:r>
              <a:rPr lang="es" sz="2000">
                <a:solidFill>
                  <a:srgbClr val="000000"/>
                </a:solidFill>
                <a:latin typeface="Arial"/>
                <a:ea typeface="Arial"/>
                <a:cs typeface="Arial"/>
                <a:sym typeface="Arial"/>
              </a:rPr>
              <a:t>— describe los movimientos de la cara y la boca que corresponden a cada fonema que se pronuncia y un fonema es una unidad en el sistema fonético de un idioma correspondiente a un conjunto de sonidos del habla similares.</a:t>
            </a:r>
            <a:endParaRPr sz="2000">
              <a:solidFill>
                <a:srgbClr val="000000"/>
              </a:solidFill>
              <a:latin typeface="Arial"/>
              <a:ea typeface="Arial"/>
              <a:cs typeface="Arial"/>
              <a:sym typeface="Arial"/>
            </a:endParaRPr>
          </a:p>
        </p:txBody>
      </p:sp>
      <p:sp>
        <p:nvSpPr>
          <p:cNvPr id="180" name="Google Shape;180;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2.  Marcas de Voz.</a:t>
            </a:r>
            <a:endParaRPr/>
          </a:p>
        </p:txBody>
      </p:sp>
      <p:sp>
        <p:nvSpPr>
          <p:cNvPr id="186" name="Google Shape;186;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
        <p:nvSpPr>
          <p:cNvPr id="187" name="Google Shape;187;p27"/>
          <p:cNvSpPr txBox="1"/>
          <p:nvPr/>
        </p:nvSpPr>
        <p:spPr>
          <a:xfrm>
            <a:off x="2043525" y="4113050"/>
            <a:ext cx="801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Arial"/>
                <a:ea typeface="Arial"/>
                <a:cs typeface="Arial"/>
                <a:sym typeface="Arial"/>
                <a:hlinkClick r:id="rId3"/>
              </a:rPr>
              <a:t>https://www.youtube.com/watch?v=m6dsnR2Jvbw</a:t>
            </a:r>
            <a:endParaRPr b="0" i="0" sz="1400" u="none" cap="none" strike="noStrike">
              <a:solidFill>
                <a:srgbClr val="000000"/>
              </a:solidFill>
              <a:latin typeface="Arial"/>
              <a:ea typeface="Arial"/>
              <a:cs typeface="Arial"/>
              <a:sym typeface="Arial"/>
            </a:endParaRPr>
          </a:p>
        </p:txBody>
      </p:sp>
      <p:pic>
        <p:nvPicPr>
          <p:cNvPr id="188" name="Google Shape;188;p27"/>
          <p:cNvPicPr preferRelativeResize="0"/>
          <p:nvPr/>
        </p:nvPicPr>
        <p:blipFill rotWithShape="1">
          <a:blip r:embed="rId4">
            <a:alphaModFix/>
          </a:blip>
          <a:srcRect b="0" l="0" r="0" t="0"/>
          <a:stretch/>
        </p:blipFill>
        <p:spPr>
          <a:xfrm>
            <a:off x="1771650" y="1322600"/>
            <a:ext cx="4771473" cy="2707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a:t>
            </a:r>
            <a:endParaRPr/>
          </a:p>
        </p:txBody>
      </p:sp>
      <p:sp>
        <p:nvSpPr>
          <p:cNvPr id="194" name="Google Shape;194;p28"/>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El uso de texto mejorado con SSML ofrece mayor control sobre el modo en que Amazon Polly genera el fragmento hablado a partir del texto proporcionado.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2000">
                <a:solidFill>
                  <a:srgbClr val="000000"/>
                </a:solidFill>
                <a:latin typeface="Arial"/>
                <a:ea typeface="Arial"/>
                <a:cs typeface="Arial"/>
                <a:sym typeface="Arial"/>
              </a:rPr>
              <a:t>SSML es un lenguaje de marcado que usa etiquetas para instruir al intérprete sobre lo que debe hacerse. Cómo usamos &lt;html&gt;&lt;/html&gt;para comenzar y finalizar documentos HTML, todo en SSML está incluido dentro de las &lt;speak&gt;&lt;/speak&gt;etiquetas. </a:t>
            </a:r>
            <a:endParaRPr b="1" sz="2000">
              <a:solidFill>
                <a:srgbClr val="000000"/>
              </a:solidFill>
              <a:latin typeface="Arial"/>
              <a:ea typeface="Arial"/>
              <a:cs typeface="Arial"/>
              <a:sym typeface="Arial"/>
            </a:endParaRPr>
          </a:p>
        </p:txBody>
      </p:sp>
      <p:sp>
        <p:nvSpPr>
          <p:cNvPr id="195" name="Google Shape;195;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a:t>
            </a:r>
            <a:endParaRPr/>
          </a:p>
        </p:txBody>
      </p:sp>
      <p:sp>
        <p:nvSpPr>
          <p:cNvPr id="201" name="Google Shape;201;p29"/>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Nos vamos al servicio Polly.</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b="1" sz="2000">
              <a:solidFill>
                <a:srgbClr val="000000"/>
              </a:solidFill>
              <a:latin typeface="Arial"/>
              <a:ea typeface="Arial"/>
              <a:cs typeface="Arial"/>
              <a:sym typeface="Arial"/>
            </a:endParaRPr>
          </a:p>
        </p:txBody>
      </p:sp>
      <p:sp>
        <p:nvSpPr>
          <p:cNvPr id="202" name="Google Shape;202;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203" name="Google Shape;203;p29"/>
          <p:cNvPicPr preferRelativeResize="0"/>
          <p:nvPr/>
        </p:nvPicPr>
        <p:blipFill rotWithShape="1">
          <a:blip r:embed="rId3">
            <a:alphaModFix/>
          </a:blip>
          <a:srcRect b="0" l="0" r="0" t="0"/>
          <a:stretch/>
        </p:blipFill>
        <p:spPr>
          <a:xfrm>
            <a:off x="727650" y="2295999"/>
            <a:ext cx="8000974" cy="1487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SPEAK.</a:t>
            </a:r>
            <a:endParaRPr/>
          </a:p>
        </p:txBody>
      </p:sp>
      <p:sp>
        <p:nvSpPr>
          <p:cNvPr id="209" name="Google Shape;209;p30"/>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Esto es un ejemplo de la etiqueta speak, es análoga a la etiqueta html. Todo el texto mejorado con SSML debe incluirse entre estas etiquetas.</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b="1" sz="2000">
              <a:solidFill>
                <a:srgbClr val="000000"/>
              </a:solidFill>
              <a:latin typeface="Arial"/>
              <a:ea typeface="Arial"/>
              <a:cs typeface="Arial"/>
              <a:sym typeface="Arial"/>
            </a:endParaRPr>
          </a:p>
        </p:txBody>
      </p:sp>
      <p:sp>
        <p:nvSpPr>
          <p:cNvPr id="210" name="Google Shape;210;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BREAK.</a:t>
            </a:r>
            <a:endParaRPr/>
          </a:p>
        </p:txBody>
      </p:sp>
      <p:sp>
        <p:nvSpPr>
          <p:cNvPr id="216" name="Google Shape;216;p31"/>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Si queremos agregar una pausa en la forma en que se sintetiza este discurso,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podemos usar la etiqueta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&lt;break time="1s"/&gt;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y agregar una duración para la pausa.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No tenemos que insertar pausas para la puntuación,</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ya que Polly es suficientemente inteligente.</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92857"/>
              <a:buNone/>
            </a:pPr>
            <a:r>
              <a:t/>
            </a:r>
            <a:endParaRPr b="1" sz="2000">
              <a:solidFill>
                <a:srgbClr val="000000"/>
              </a:solidFill>
              <a:latin typeface="Arial"/>
              <a:ea typeface="Arial"/>
              <a:cs typeface="Arial"/>
              <a:sym typeface="Arial"/>
            </a:endParaRPr>
          </a:p>
        </p:txBody>
      </p:sp>
      <p:sp>
        <p:nvSpPr>
          <p:cNvPr id="217" name="Google Shape;217;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BREAK.</a:t>
            </a:r>
            <a:endParaRPr/>
          </a:p>
        </p:txBody>
      </p:sp>
      <p:sp>
        <p:nvSpPr>
          <p:cNvPr id="223" name="Google Shape;223;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224" name="Google Shape;224;p32"/>
          <p:cNvPicPr preferRelativeResize="0"/>
          <p:nvPr/>
        </p:nvPicPr>
        <p:blipFill rotWithShape="1">
          <a:blip r:embed="rId3">
            <a:alphaModFix/>
          </a:blip>
          <a:srcRect b="0" l="0" r="0" t="0"/>
          <a:stretch/>
        </p:blipFill>
        <p:spPr>
          <a:xfrm>
            <a:off x="841125" y="1387626"/>
            <a:ext cx="7288600" cy="3045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BREAK.</a:t>
            </a:r>
            <a:endParaRPr/>
          </a:p>
        </p:txBody>
      </p:sp>
      <p:sp>
        <p:nvSpPr>
          <p:cNvPr id="230" name="Google Shape;230;p33"/>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&lt;speak&gt;</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Este tema es muy entretenido</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&lt;break time="5s"/&gt;</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Estoy aprendiendo mucho.</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Este tema es muy entretenido</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&lt;break strength="weak"/&gt;</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Pausa como una coma.</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Este tema es muy entretenido</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&lt;break/&gt;</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    El valor por defecto es Medium.</a:t>
            </a:r>
            <a:endParaRPr sz="3600">
              <a:solidFill>
                <a:srgbClr val="000000"/>
              </a:solidFill>
              <a:latin typeface="Arial"/>
              <a:ea typeface="Arial"/>
              <a:cs typeface="Arial"/>
              <a:sym typeface="Arial"/>
            </a:endParaRPr>
          </a:p>
          <a:p>
            <a:pPr indent="0" lvl="0" marL="0" rtl="0" algn="l">
              <a:lnSpc>
                <a:spcPct val="115000"/>
              </a:lnSpc>
              <a:spcBef>
                <a:spcPts val="1200"/>
              </a:spcBef>
              <a:spcAft>
                <a:spcPts val="0"/>
              </a:spcAft>
              <a:buSzPct val="144444"/>
              <a:buNone/>
            </a:pPr>
            <a:r>
              <a:rPr lang="es" sz="3600">
                <a:solidFill>
                  <a:srgbClr val="000000"/>
                </a:solidFill>
                <a:latin typeface="Arial"/>
                <a:ea typeface="Arial"/>
                <a:cs typeface="Arial"/>
                <a:sym typeface="Arial"/>
              </a:rPr>
              <a:t>&lt;/speak&gt;</a:t>
            </a:r>
            <a:endParaRPr sz="36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260000"/>
              <a:buNone/>
            </a:pPr>
            <a:r>
              <a:t/>
            </a:r>
            <a:endParaRPr sz="2000">
              <a:solidFill>
                <a:srgbClr val="000000"/>
              </a:solidFill>
              <a:latin typeface="Arial"/>
              <a:ea typeface="Arial"/>
              <a:cs typeface="Arial"/>
              <a:sym typeface="Arial"/>
            </a:endParaRPr>
          </a:p>
        </p:txBody>
      </p:sp>
      <p:sp>
        <p:nvSpPr>
          <p:cNvPr id="231" name="Google Shape;231;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BREAK.</a:t>
            </a:r>
            <a:endParaRPr/>
          </a:p>
        </p:txBody>
      </p:sp>
      <p:sp>
        <p:nvSpPr>
          <p:cNvPr id="237" name="Google Shape;237;p34"/>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Ejercicio 2: Pase la siguiente frase “No sé la solución en estos momentos” a SSML, con una pausa de 500 ms entre “solución” y momentos.</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38" name="Google Shape;238;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EMPHASIS.</a:t>
            </a:r>
            <a:endParaRPr/>
          </a:p>
        </p:txBody>
      </p:sp>
      <p:sp>
        <p:nvSpPr>
          <p:cNvPr id="244" name="Google Shape;244;p35"/>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Enfatizar las palabras cambia el volumen y la velocidad de la voz. Más énfasis significa que Amazon Polly lee el texto más alto y lento. Menos énfasis hace que el texto se lea más bajo y rápido.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Valores del atributo level:</a:t>
            </a:r>
            <a:endParaRPr sz="20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ct val="100000"/>
              <a:buFont typeface="Arial"/>
              <a:buChar char="●"/>
            </a:pPr>
            <a:r>
              <a:rPr lang="es" sz="2000">
                <a:solidFill>
                  <a:srgbClr val="000000"/>
                </a:solidFill>
                <a:latin typeface="Arial"/>
                <a:ea typeface="Arial"/>
                <a:cs typeface="Arial"/>
                <a:sym typeface="Arial"/>
              </a:rPr>
              <a:t>Strong: aumenta el volumen y ralentiza la velocidad de habla, para que la voz sea más alta y lenta.</a:t>
            </a:r>
            <a:endParaRPr sz="20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ct val="100000"/>
              <a:buFont typeface="Arial"/>
              <a:buChar char="●"/>
            </a:pPr>
            <a:r>
              <a:rPr lang="es" sz="2000">
                <a:solidFill>
                  <a:srgbClr val="000000"/>
                </a:solidFill>
                <a:latin typeface="Arial"/>
                <a:ea typeface="Arial"/>
                <a:cs typeface="Arial"/>
                <a:sym typeface="Arial"/>
              </a:rPr>
              <a:t>Moderate: aumenta el volumen y ralentiza de habla, pero menos que strong. Moderate es el valor predeterminado.</a:t>
            </a:r>
            <a:endParaRPr sz="20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ct val="100000"/>
              <a:buFont typeface="Arial"/>
              <a:buChar char="●"/>
            </a:pPr>
            <a:r>
              <a:rPr lang="es" sz="2000">
                <a:solidFill>
                  <a:srgbClr val="000000"/>
                </a:solidFill>
                <a:latin typeface="Arial"/>
                <a:ea typeface="Arial"/>
                <a:cs typeface="Arial"/>
                <a:sym typeface="Arial"/>
              </a:rPr>
              <a:t>Reduced: disminuye el volumen e incrementa la velocidad de habla. La voz es más baja y rápida.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92857"/>
              <a:buNone/>
            </a:pPr>
            <a:r>
              <a:t/>
            </a:r>
            <a:endParaRPr sz="2000">
              <a:solidFill>
                <a:srgbClr val="000000"/>
              </a:solidFill>
              <a:latin typeface="Arial"/>
              <a:ea typeface="Arial"/>
              <a:cs typeface="Arial"/>
              <a:sym typeface="Arial"/>
            </a:endParaRPr>
          </a:p>
        </p:txBody>
      </p:sp>
      <p:sp>
        <p:nvSpPr>
          <p:cNvPr id="245" name="Google Shape;245;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EMPHASIS.</a:t>
            </a:r>
            <a:endParaRPr/>
          </a:p>
        </p:txBody>
      </p:sp>
      <p:sp>
        <p:nvSpPr>
          <p:cNvPr id="251" name="Google Shape;251;p36"/>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Cambiamos a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52" name="Google Shape;252;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253" name="Google Shape;253;p36"/>
          <p:cNvPicPr preferRelativeResize="0"/>
          <p:nvPr/>
        </p:nvPicPr>
        <p:blipFill rotWithShape="1">
          <a:blip r:embed="rId3">
            <a:alphaModFix/>
          </a:blip>
          <a:srcRect b="0" l="0" r="0" t="0"/>
          <a:stretch/>
        </p:blipFill>
        <p:spPr>
          <a:xfrm>
            <a:off x="445600" y="2044700"/>
            <a:ext cx="8563877" cy="1493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EMPHASIS.</a:t>
            </a:r>
            <a:endParaRPr/>
          </a:p>
        </p:txBody>
      </p:sp>
      <p:sp>
        <p:nvSpPr>
          <p:cNvPr id="259" name="Google Shape;259;p37"/>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Os tengo que decir</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&lt;emphasis level="strong"&gt;este tema es muy importante&lt;/emphasis&gt;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en esta asignatura.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60" name="Google Shape;260;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LANG.</a:t>
            </a:r>
            <a:endParaRPr/>
          </a:p>
        </p:txBody>
      </p:sp>
      <p:sp>
        <p:nvSpPr>
          <p:cNvPr id="266" name="Google Shape;266;p38"/>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Especificar otro idioma para una palabra específica, frase u oración con la etiqueta &lt;lang&gt;. Las palabras y frases extranjeras normalmente se leen mejor cuando se incluyen entre un par de etiquetas &lt;lang&gt;. Para especificar el idioma, utilice el atributo xml:lang.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67" name="Google Shape;267;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LANG.</a:t>
            </a:r>
            <a:endParaRPr/>
          </a:p>
        </p:txBody>
      </p:sp>
      <p:sp>
        <p:nvSpPr>
          <p:cNvPr id="273" name="Google Shape;273;p39"/>
          <p:cNvSpPr txBox="1"/>
          <p:nvPr>
            <p:ph idx="1" type="body"/>
          </p:nvPr>
        </p:nvSpPr>
        <p:spPr>
          <a:xfrm>
            <a:off x="729450" y="1381050"/>
            <a:ext cx="7688700" cy="323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&lt;lang xml:lang="es-Es"&gt;Paella valenciana&lt;/lang&gt;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74" name="Google Shape;274;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Oraciones &lt;s&gt;&lt;/s&gt; y párrafos &lt;p&gt;&lt;/p&gt;.</a:t>
            </a:r>
            <a:endParaRPr/>
          </a:p>
          <a:p>
            <a:pPr indent="0" lvl="0" marL="0" rtl="0" algn="l">
              <a:lnSpc>
                <a:spcPct val="100000"/>
              </a:lnSpc>
              <a:spcBef>
                <a:spcPts val="0"/>
              </a:spcBef>
              <a:spcAft>
                <a:spcPts val="0"/>
              </a:spcAft>
              <a:buSzPct val="111111"/>
              <a:buNone/>
            </a:pPr>
            <a:r>
              <a:t/>
            </a:r>
            <a:endParaRPr/>
          </a:p>
        </p:txBody>
      </p:sp>
      <p:sp>
        <p:nvSpPr>
          <p:cNvPr id="280" name="Google Shape;280;p40"/>
          <p:cNvSpPr txBox="1"/>
          <p:nvPr>
            <p:ph idx="1" type="body"/>
          </p:nvPr>
        </p:nvSpPr>
        <p:spPr>
          <a:xfrm>
            <a:off x="727650" y="1346400"/>
            <a:ext cx="7688700" cy="326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Normalmente, cuando hablamos, hacemos una pausa entre oraciones y párrafos. Si bien Polly comprende agregar una pausa basada en la puntuación, podemos usar el explícito &lt;s&gt;&lt;/s&gt;y &lt;p&gt;&lt;/p&gt;para ajustar la duración de la pausa.</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281" name="Google Shape;281;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Oraciones &lt;s&gt;&lt;/s&gt; y párrafos &lt;p&gt;&lt;/p&gt;.</a:t>
            </a:r>
            <a:endParaRPr/>
          </a:p>
          <a:p>
            <a:pPr indent="0" lvl="0" marL="0" rtl="0" algn="l">
              <a:lnSpc>
                <a:spcPct val="100000"/>
              </a:lnSpc>
              <a:spcBef>
                <a:spcPts val="0"/>
              </a:spcBef>
              <a:spcAft>
                <a:spcPts val="0"/>
              </a:spcAft>
              <a:buSzPct val="111111"/>
              <a:buNone/>
            </a:pPr>
            <a:r>
              <a:t/>
            </a:r>
            <a:endParaRPr/>
          </a:p>
        </p:txBody>
      </p:sp>
      <p:sp>
        <p:nvSpPr>
          <p:cNvPr id="287" name="Google Shape;287;p41"/>
          <p:cNvSpPr txBox="1"/>
          <p:nvPr>
            <p:ph idx="1" type="body"/>
          </p:nvPr>
        </p:nvSpPr>
        <p:spPr>
          <a:xfrm>
            <a:off x="727650" y="1346400"/>
            <a:ext cx="7688700" cy="32625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    </a:t>
            </a:r>
            <a:r>
              <a:rPr b="1" lang="es" sz="2000">
                <a:solidFill>
                  <a:srgbClr val="000000"/>
                </a:solidFill>
                <a:latin typeface="Arial"/>
                <a:ea typeface="Arial"/>
                <a:cs typeface="Arial"/>
                <a:sym typeface="Arial"/>
              </a:rPr>
              <a:t> &lt;p&gt;</a:t>
            </a:r>
            <a:r>
              <a:rPr lang="es" sz="2000">
                <a:solidFill>
                  <a:srgbClr val="000000"/>
                </a:solidFill>
                <a:latin typeface="Arial"/>
                <a:ea typeface="Arial"/>
                <a:cs typeface="Arial"/>
                <a:sym typeface="Arial"/>
              </a:rPr>
              <a:t> Fragmento de un escrito con unidad temática, que queda diferenciado del resto de fragmentos por un punto y aparte y generalmente también por llevar letra mayúscula inicial y un espacio en blanco en el margen izquierdo de alineación del texto principal de la primera línea.</a:t>
            </a:r>
            <a:r>
              <a:rPr b="1" lang="es" sz="2000">
                <a:solidFill>
                  <a:srgbClr val="000000"/>
                </a:solidFill>
                <a:latin typeface="Arial"/>
                <a:ea typeface="Arial"/>
                <a:cs typeface="Arial"/>
                <a:sym typeface="Arial"/>
              </a:rPr>
              <a:t>&lt;s&gt;</a:t>
            </a:r>
            <a:r>
              <a:rPr lang="es" sz="2000">
                <a:solidFill>
                  <a:srgbClr val="000000"/>
                </a:solidFill>
                <a:latin typeface="Arial"/>
                <a:ea typeface="Arial"/>
                <a:cs typeface="Arial"/>
                <a:sym typeface="Arial"/>
              </a:rPr>
              <a:t>Unidad lingüística que consta de sujeto y predicado, implícitos o explícitos; sintácticamente, puede ser simple (independiente) o compuesta (coordinada o subordinada).</a:t>
            </a:r>
            <a:r>
              <a:rPr b="1" lang="es" sz="2000">
                <a:solidFill>
                  <a:srgbClr val="000000"/>
                </a:solidFill>
                <a:latin typeface="Arial"/>
                <a:ea typeface="Arial"/>
                <a:cs typeface="Arial"/>
                <a:sym typeface="Arial"/>
              </a:rPr>
              <a:t>&lt;/s&gt;&lt;/p&gt;</a:t>
            </a:r>
            <a:endParaRPr b="1"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6471"/>
              <a:buNone/>
            </a:pPr>
            <a:r>
              <a:t/>
            </a:r>
            <a:endParaRPr sz="2000">
              <a:solidFill>
                <a:srgbClr val="000000"/>
              </a:solidFill>
              <a:latin typeface="Arial"/>
              <a:ea typeface="Arial"/>
              <a:cs typeface="Arial"/>
              <a:sym typeface="Arial"/>
            </a:endParaRPr>
          </a:p>
        </p:txBody>
      </p:sp>
      <p:sp>
        <p:nvSpPr>
          <p:cNvPr id="288" name="Google Shape;288;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PHONEME.</a:t>
            </a:r>
            <a:endParaRPr/>
          </a:p>
          <a:p>
            <a:pPr indent="0" lvl="0" marL="0" rtl="0" algn="l">
              <a:lnSpc>
                <a:spcPct val="100000"/>
              </a:lnSpc>
              <a:spcBef>
                <a:spcPts val="0"/>
              </a:spcBef>
              <a:spcAft>
                <a:spcPts val="0"/>
              </a:spcAft>
              <a:buSzPct val="111111"/>
              <a:buNone/>
            </a:pPr>
            <a:r>
              <a:t/>
            </a:r>
            <a:endParaRPr/>
          </a:p>
        </p:txBody>
      </p:sp>
      <p:sp>
        <p:nvSpPr>
          <p:cNvPr id="294" name="Google Shape;294;p42"/>
          <p:cNvSpPr txBox="1"/>
          <p:nvPr>
            <p:ph idx="1" type="body"/>
          </p:nvPr>
        </p:nvSpPr>
        <p:spPr>
          <a:xfrm>
            <a:off x="727650" y="1346400"/>
            <a:ext cx="7688700" cy="3262500"/>
          </a:xfrm>
          <a:prstGeom prst="rect">
            <a:avLst/>
          </a:prstGeom>
          <a:noFill/>
          <a:ln>
            <a:noFill/>
          </a:ln>
        </p:spPr>
        <p:txBody>
          <a:bodyPr anchorCtr="0" anchor="t" bIns="91425" lIns="91425" spcFirstLastPara="1" rIns="91425" wrap="square" tIns="91425">
            <a:normAutofit fontScale="77500" lnSpcReduction="10000"/>
          </a:bodyPr>
          <a:lstStyle/>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Para que Amazon Polly utilice la pronunciación fonética para un determinado texto, utilice la &lt;phoneme&gt; etiqueta.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La etiqueta &lt;phoneme&gt; requiere dos atributos. Indican el alfabeto fonético que utiliza Amazon Polly y los símbolos fonéticos de la pronunciación corregida: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alphabet:</a:t>
            </a:r>
            <a:endParaRPr sz="2000">
              <a:solidFill>
                <a:srgbClr val="000000"/>
              </a:solidFill>
              <a:latin typeface="Arial"/>
              <a:ea typeface="Arial"/>
              <a:cs typeface="Arial"/>
              <a:sym typeface="Arial"/>
            </a:endParaRPr>
          </a:p>
          <a:p>
            <a:pPr indent="-327025" lvl="0" marL="457200" rtl="0" algn="l">
              <a:lnSpc>
                <a:spcPct val="115000"/>
              </a:lnSpc>
              <a:spcBef>
                <a:spcPts val="1200"/>
              </a:spcBef>
              <a:spcAft>
                <a:spcPts val="0"/>
              </a:spcAft>
              <a:buClr>
                <a:srgbClr val="000000"/>
              </a:buClr>
              <a:buSzPct val="100000"/>
              <a:buFont typeface="Arial"/>
              <a:buChar char="●"/>
            </a:pPr>
            <a:r>
              <a:rPr lang="es" sz="2000">
                <a:solidFill>
                  <a:srgbClr val="000000"/>
                </a:solidFill>
                <a:latin typeface="Arial"/>
                <a:ea typeface="Arial"/>
                <a:cs typeface="Arial"/>
                <a:sym typeface="Arial"/>
              </a:rPr>
              <a:t>ipa: indica que se usará el Sistema Fonético Internacional (IPA, por sus siglas en inglés).</a:t>
            </a:r>
            <a:endParaRPr sz="2000">
              <a:solidFill>
                <a:srgbClr val="000000"/>
              </a:solidFill>
              <a:latin typeface="Arial"/>
              <a:ea typeface="Arial"/>
              <a:cs typeface="Arial"/>
              <a:sym typeface="Arial"/>
            </a:endParaRPr>
          </a:p>
          <a:p>
            <a:pPr indent="-327025" lvl="0" marL="457200" rtl="0" algn="l">
              <a:lnSpc>
                <a:spcPct val="115000"/>
              </a:lnSpc>
              <a:spcBef>
                <a:spcPts val="0"/>
              </a:spcBef>
              <a:spcAft>
                <a:spcPts val="0"/>
              </a:spcAft>
              <a:buClr>
                <a:srgbClr val="000000"/>
              </a:buClr>
              <a:buSzPct val="100000"/>
              <a:buFont typeface="Arial"/>
              <a:buChar char="●"/>
            </a:pPr>
            <a:r>
              <a:rPr lang="es" sz="2000">
                <a:solidFill>
                  <a:srgbClr val="000000"/>
                </a:solidFill>
                <a:latin typeface="Arial"/>
                <a:ea typeface="Arial"/>
                <a:cs typeface="Arial"/>
                <a:sym typeface="Arial"/>
              </a:rPr>
              <a:t>x-sampa: indica que se usará el Alfabeto Fonético Extendido SAM (X-SAMPA, por sus siglas en inglés).</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83871"/>
              <a:buNone/>
            </a:pPr>
            <a:r>
              <a:rPr lang="es" sz="2000">
                <a:solidFill>
                  <a:srgbClr val="000000"/>
                </a:solidFill>
                <a:latin typeface="Arial"/>
                <a:ea typeface="Arial"/>
                <a:cs typeface="Arial"/>
                <a:sym typeface="Arial"/>
              </a:rPr>
              <a:t>ph: Especifica los símbolos fonéticos para la pronunciación.</a:t>
            </a:r>
            <a:endParaRPr sz="2000">
              <a:solidFill>
                <a:srgbClr val="000000"/>
              </a:solidFill>
              <a:latin typeface="Arial"/>
              <a:ea typeface="Arial"/>
              <a:cs typeface="Arial"/>
              <a:sym typeface="Arial"/>
            </a:endParaRPr>
          </a:p>
        </p:txBody>
      </p:sp>
      <p:sp>
        <p:nvSpPr>
          <p:cNvPr id="295" name="Google Shape;295;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PHONEME.</a:t>
            </a:r>
            <a:endParaRPr/>
          </a:p>
          <a:p>
            <a:pPr indent="0" lvl="0" marL="0" rtl="0" algn="l">
              <a:lnSpc>
                <a:spcPct val="100000"/>
              </a:lnSpc>
              <a:spcBef>
                <a:spcPts val="0"/>
              </a:spcBef>
              <a:spcAft>
                <a:spcPts val="0"/>
              </a:spcAft>
              <a:buSzPct val="111111"/>
              <a:buNone/>
            </a:pPr>
            <a:r>
              <a:t/>
            </a:r>
            <a:endParaRPr/>
          </a:p>
        </p:txBody>
      </p:sp>
      <p:sp>
        <p:nvSpPr>
          <p:cNvPr id="301" name="Google Shape;301;p43"/>
          <p:cNvSpPr txBox="1"/>
          <p:nvPr>
            <p:ph idx="1" type="body"/>
          </p:nvPr>
        </p:nvSpPr>
        <p:spPr>
          <a:xfrm>
            <a:off x="727650" y="1346400"/>
            <a:ext cx="8502600" cy="326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Sistema Fonético Internacional (IPA)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You say, &lt;phoneme alphabet="ipa" ph="pɪˈkɑːn"&gt;pecan&lt;/phoneme&gt;.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I say, &lt;phoneme alphabet="ipa" ph="ˈpi.kæn"&gt;pecan&lt;/phoneme&gt;.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302" name="Google Shape;302;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PHONEME.</a:t>
            </a:r>
            <a:endParaRPr/>
          </a:p>
          <a:p>
            <a:pPr indent="0" lvl="0" marL="0" rtl="0" algn="l">
              <a:lnSpc>
                <a:spcPct val="100000"/>
              </a:lnSpc>
              <a:spcBef>
                <a:spcPts val="0"/>
              </a:spcBef>
              <a:spcAft>
                <a:spcPts val="0"/>
              </a:spcAft>
              <a:buSzPct val="111111"/>
              <a:buNone/>
            </a:pPr>
            <a:r>
              <a:t/>
            </a:r>
            <a:endParaRPr/>
          </a:p>
        </p:txBody>
      </p:sp>
      <p:sp>
        <p:nvSpPr>
          <p:cNvPr id="308" name="Google Shape;308;p44"/>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Métodos ampliados de evaluación del habla: Alfabeto Fonético Extendido SAM (X-SAMPA)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You say, &lt;phoneme alphabet='x-sampa' ph='pI"kA:n'&gt;pecan&lt;/phoneme&gt;.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I say, &lt;phoneme alphabet='x-sampa' ph='"pi.k{n'&gt;pecan&lt;/phoneme&gt;.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309" name="Google Shape;309;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15" name="Google Shape;315;p45"/>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Probablemente la etiqueta más interesante y desafiante sea la &lt;prosody&gt;&lt;/prosody&gt;que nos permite controlar la velocidad, el volumen y el tono del habla asociada.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El volumen, la velocidad de habla, y el tono dependen de la voz seleccionada y el idioma.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La etiqueta prosody tiene tres atributos, cada uno de los cuales tiene varios valores disponibles para establecer el atributo. Todos los atributos utilizan la misma sintaxis: &lt;prosody attribute="value"&gt;&lt;/prosody&gt;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316" name="Google Shape;316;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22" name="Google Shape;322;p46"/>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1200"/>
              </a:spcBef>
              <a:spcAft>
                <a:spcPts val="0"/>
              </a:spcAft>
              <a:buSzPct val="76471"/>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     Quiero empezar a hablar &lt;prosody volume="-6dB"&gt;muy bajito&lt;/prosody&gt;, ahora voy a ser más  &lt;prosody volume="loud"&gt;ruidoso … subo el volumen&lt;/prosody&gt;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6471"/>
              <a:buNone/>
            </a:pPr>
            <a:r>
              <a:t/>
            </a:r>
            <a:endParaRPr sz="2000">
              <a:solidFill>
                <a:srgbClr val="000000"/>
              </a:solidFill>
              <a:latin typeface="Arial"/>
              <a:ea typeface="Arial"/>
              <a:cs typeface="Arial"/>
              <a:sym typeface="Arial"/>
            </a:endParaRPr>
          </a:p>
        </p:txBody>
      </p:sp>
      <p:sp>
        <p:nvSpPr>
          <p:cNvPr id="323" name="Google Shape;323;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324" name="Google Shape;324;p46"/>
          <p:cNvPicPr preferRelativeResize="0"/>
          <p:nvPr/>
        </p:nvPicPr>
        <p:blipFill rotWithShape="1">
          <a:blip r:embed="rId3">
            <a:alphaModFix/>
          </a:blip>
          <a:srcRect b="0" l="0" r="0" t="0"/>
          <a:stretch/>
        </p:blipFill>
        <p:spPr>
          <a:xfrm>
            <a:off x="86375" y="1346400"/>
            <a:ext cx="8998626" cy="1203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30" name="Google Shape;330;p47"/>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7027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     Quiero empezar a hablar &lt;prosody rate="slow"&gt;despacito&lt;/prosody&gt;, &lt;prosody rate="20%"&gt;muy despacito&lt;/prosody&gt;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0270"/>
              <a:buNone/>
            </a:pPr>
            <a:r>
              <a:t/>
            </a:r>
            <a:endParaRPr sz="2000">
              <a:solidFill>
                <a:srgbClr val="000000"/>
              </a:solidFill>
              <a:latin typeface="Arial"/>
              <a:ea typeface="Arial"/>
              <a:cs typeface="Arial"/>
              <a:sym typeface="Arial"/>
            </a:endParaRPr>
          </a:p>
        </p:txBody>
      </p:sp>
      <p:sp>
        <p:nvSpPr>
          <p:cNvPr id="331" name="Google Shape;331;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332" name="Google Shape;332;p47"/>
          <p:cNvPicPr preferRelativeResize="0"/>
          <p:nvPr/>
        </p:nvPicPr>
        <p:blipFill rotWithShape="1">
          <a:blip r:embed="rId3">
            <a:alphaModFix/>
          </a:blip>
          <a:srcRect b="0" l="0" r="0" t="0"/>
          <a:stretch/>
        </p:blipFill>
        <p:spPr>
          <a:xfrm>
            <a:off x="52525" y="1278715"/>
            <a:ext cx="9143999" cy="123017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38" name="Google Shape;338;p48"/>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&lt;prosody pitch="high"&gt;Subiendo el tono &lt;/prosody&gt; &lt;prosody pitch="-10%"&gt;Bajando el tono&lt;/prosody&gt;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339" name="Google Shape;339;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340" name="Google Shape;340;p48"/>
          <p:cNvPicPr preferRelativeResize="0"/>
          <p:nvPr/>
        </p:nvPicPr>
        <p:blipFill rotWithShape="1">
          <a:blip r:embed="rId3">
            <a:alphaModFix/>
          </a:blip>
          <a:srcRect b="0" l="0" r="0" t="0"/>
          <a:stretch/>
        </p:blipFill>
        <p:spPr>
          <a:xfrm>
            <a:off x="86375" y="1221460"/>
            <a:ext cx="9143999" cy="13502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46" name="Google Shape;346;p49"/>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La etiqueta &lt;prosody&gt; debe contener al menos un atributo, pero puede incluir más dentro de la misma etiqueta.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Voy a hablar &lt;prosody volume="loud" rate="x-slow"&gt;despacito y bajito.&lt;/prosody&gt;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347" name="Google Shape;347;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53" name="Google Shape;353;p50"/>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También se puede combinar con etiquetas anidadas, tal y como se indica a continuación:</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     &lt;prosody rate="85%"&gt;Bajamos un poquito la velocidad&lt;prosody pitch="-10%"&gt;y el tono&lt;/prosody&gt; ahora volvemos al tono original&lt;/prosody&gt;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0270"/>
              <a:buNone/>
            </a:pPr>
            <a:r>
              <a:t/>
            </a:r>
            <a:endParaRPr sz="2000">
              <a:solidFill>
                <a:srgbClr val="000000"/>
              </a:solidFill>
              <a:latin typeface="Arial"/>
              <a:ea typeface="Arial"/>
              <a:cs typeface="Arial"/>
              <a:sym typeface="Arial"/>
            </a:endParaRPr>
          </a:p>
        </p:txBody>
      </p:sp>
      <p:sp>
        <p:nvSpPr>
          <p:cNvPr id="354" name="Google Shape;354;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60" name="Google Shape;360;p51"/>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Para controlar el tiempo que desea que tarde un fragmento de voz cuando se sintetiza, utilice la etiqueta &lt;prosody&gt; con el atributo amazon:max-duration.</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&lt;prosody amazon:max-duration="time duration"&gt;</a:t>
            </a:r>
            <a:endParaRPr sz="2000">
              <a:solidFill>
                <a:srgbClr val="000000"/>
              </a:solidFill>
              <a:latin typeface="Arial"/>
              <a:ea typeface="Arial"/>
              <a:cs typeface="Arial"/>
              <a:sym typeface="Arial"/>
            </a:endParaRPr>
          </a:p>
          <a:p>
            <a:pPr indent="-277495" lvl="0" marL="457200" rtl="0" algn="l">
              <a:lnSpc>
                <a:spcPct val="115000"/>
              </a:lnSpc>
              <a:spcBef>
                <a:spcPts val="1200"/>
              </a:spcBef>
              <a:spcAft>
                <a:spcPts val="0"/>
              </a:spcAft>
              <a:buClr>
                <a:srgbClr val="000000"/>
              </a:buClr>
              <a:buSzPct val="55000"/>
              <a:buFont typeface="Arial"/>
              <a:buChar char="●"/>
            </a:pPr>
            <a:r>
              <a:rPr lang="es" sz="2000">
                <a:solidFill>
                  <a:srgbClr val="000000"/>
                </a:solidFill>
                <a:latin typeface="Arial"/>
                <a:ea typeface="Arial"/>
                <a:cs typeface="Arial"/>
                <a:sym typeface="Arial"/>
              </a:rPr>
              <a:t>ns: la duración máxima en segundos</a:t>
            </a:r>
            <a:br>
              <a:rPr lang="es" sz="2000">
                <a:solidFill>
                  <a:srgbClr val="000000"/>
                </a:solidFill>
                <a:latin typeface="Arial"/>
                <a:ea typeface="Arial"/>
                <a:cs typeface="Arial"/>
                <a:sym typeface="Arial"/>
              </a:rPr>
            </a:br>
            <a:endParaRPr sz="2000">
              <a:solidFill>
                <a:srgbClr val="000000"/>
              </a:solidFill>
              <a:latin typeface="Arial"/>
              <a:ea typeface="Arial"/>
              <a:cs typeface="Arial"/>
              <a:sym typeface="Arial"/>
            </a:endParaRPr>
          </a:p>
          <a:p>
            <a:pPr indent="-277495" lvl="0" marL="457200" rtl="0" algn="l">
              <a:lnSpc>
                <a:spcPct val="115000"/>
              </a:lnSpc>
              <a:spcBef>
                <a:spcPts val="0"/>
              </a:spcBef>
              <a:spcAft>
                <a:spcPts val="0"/>
              </a:spcAft>
              <a:buClr>
                <a:srgbClr val="000000"/>
              </a:buClr>
              <a:buSzPct val="55000"/>
              <a:buFont typeface="Arial"/>
              <a:buChar char="●"/>
            </a:pPr>
            <a:r>
              <a:rPr lang="es" sz="2000">
                <a:solidFill>
                  <a:srgbClr val="000000"/>
                </a:solidFill>
                <a:latin typeface="Arial"/>
                <a:ea typeface="Arial"/>
                <a:cs typeface="Arial"/>
                <a:sym typeface="Arial"/>
              </a:rPr>
              <a:t>nms: la duración máxima en milisegundos</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&lt;prosody amazon:max-duration="2s"&gt;  Human speech is a powerful way to communicate.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361" name="Google Shape;361;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2"/>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67" name="Google Shape;367;p52"/>
          <p:cNvSpPr txBox="1"/>
          <p:nvPr>
            <p:ph idx="1" type="body"/>
          </p:nvPr>
        </p:nvSpPr>
        <p:spPr>
          <a:xfrm>
            <a:off x="406775" y="1346400"/>
            <a:ext cx="8823600" cy="32625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Si la voz o el idioma elegido normalmente requiere más tiempo que la duración, Amazon Polly acelera el fragmento de voz de modo que se ajuste a la duración especificada.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6471"/>
              <a:buNone/>
            </a:pPr>
            <a:r>
              <a:rPr lang="es" sz="2000">
                <a:solidFill>
                  <a:srgbClr val="000000"/>
                </a:solidFill>
                <a:latin typeface="Arial"/>
                <a:ea typeface="Arial"/>
                <a:cs typeface="Arial"/>
                <a:sym typeface="Arial"/>
              </a:rPr>
              <a:t>Si la duración especificada es superior a lo que se tarda en leer el texto en una velocidad normal, Amazon Polly lee el fragmento con normalidad. No ralentiza el fragmento de voz ni añade silencio, por lo que el audio resultante es más corto de lo necesario.</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6471"/>
              <a:buNone/>
            </a:pPr>
            <a:r>
              <a:rPr lang="es" sz="2000">
                <a:solidFill>
                  <a:srgbClr val="000000"/>
                </a:solidFill>
                <a:latin typeface="Arial"/>
                <a:ea typeface="Arial"/>
                <a:cs typeface="Arial"/>
                <a:sym typeface="Arial"/>
              </a:rPr>
              <a:t>Uso de&lt;prosody amazon:max-duration&gt;puede aumentar la latencia cuando Amazon Polly devuelve un fragmento de voz sintetizada. El grado de latencia depende del fragmento y de su longitud. Le recomendamos que utilice texto compuesto por fragmentos de texto relativamente cortos.</a:t>
            </a:r>
            <a:endParaRPr sz="2000">
              <a:solidFill>
                <a:srgbClr val="000000"/>
              </a:solidFill>
              <a:latin typeface="Arial"/>
              <a:ea typeface="Arial"/>
              <a:cs typeface="Arial"/>
              <a:sym typeface="Arial"/>
            </a:endParaRPr>
          </a:p>
        </p:txBody>
      </p:sp>
      <p:sp>
        <p:nvSpPr>
          <p:cNvPr id="368" name="Google Shape;368;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3"/>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74" name="Google Shape;374;p53"/>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47500" lnSpcReduction="20000"/>
          </a:bodyPr>
          <a:lstStyle/>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&lt;speak&gt; &lt;prosody amazon:max-duration="5000ms"&gt; </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Hola mundo, hola Europa</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&lt;/prosody&gt;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&lt;break strength="strong"/&gt;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 &lt;prosody amazon:max-duration="1100ms"&gt;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Hola mundo, hola Europa</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     &lt;break strength="strong"/&gt;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     &lt;prosody amazon:max-duration="18900ms"&gt;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Hola mundo, hola Europa</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136842"/>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1200"/>
              </a:spcAft>
              <a:buSzPct val="136842"/>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375" name="Google Shape;375;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81" name="Google Shape;381;p54"/>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Existen limitaciones, tanto en la forma de utilizar la etiqueta &lt;prosody amazon:max-duration&gt; y en cómo funciona con otras etiquetas de SSML:</a:t>
            </a:r>
            <a:endParaRPr sz="20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s" sz="2000">
                <a:solidFill>
                  <a:srgbClr val="000000"/>
                </a:solidFill>
                <a:latin typeface="Arial"/>
                <a:ea typeface="Arial"/>
                <a:cs typeface="Arial"/>
                <a:sym typeface="Arial"/>
              </a:rPr>
              <a:t>El texto dentro de una etiqueta &lt;prosody amazon:max-duration&gt; no puede tener más de 1500 caracteres.</a:t>
            </a:r>
            <a:br>
              <a:rPr lang="es" sz="2000">
                <a:solidFill>
                  <a:srgbClr val="000000"/>
                </a:solidFill>
                <a:latin typeface="Arial"/>
                <a:ea typeface="Arial"/>
                <a:cs typeface="Arial"/>
                <a:sym typeface="Arial"/>
              </a:rPr>
            </a:br>
            <a:endParaRPr sz="20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s" sz="2000">
                <a:solidFill>
                  <a:srgbClr val="000000"/>
                </a:solidFill>
                <a:latin typeface="Arial"/>
                <a:ea typeface="Arial"/>
                <a:cs typeface="Arial"/>
                <a:sym typeface="Arial"/>
              </a:rPr>
              <a:t>No puede anidar etiquetas &lt;prosody amazon:max-duration&gt;. Si pones uno&lt;prosody amazon:max-duration&gt;dentro de otra, Amazon Polly omite la etiqueta interior.</a:t>
            </a:r>
            <a:endParaRPr sz="20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382" name="Google Shape;382;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88" name="Google Shape;388;p55"/>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&lt;prosody amazon:max-duration="16s"&gt;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Human speech is a powerful way to communicate.</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&lt;prosody amazon:max-duration="5s"&gt;  </a:t>
            </a:r>
            <a:r>
              <a:rPr lang="es" sz="2000">
                <a:solidFill>
                  <a:srgbClr val="CC4125"/>
                </a:solidFill>
                <a:latin typeface="Arial"/>
                <a:ea typeface="Arial"/>
                <a:cs typeface="Arial"/>
                <a:sym typeface="Arial"/>
              </a:rPr>
              <a:t># En este ejemplo AWS Polly omite esta etiqueta.</a:t>
            </a:r>
            <a:endParaRPr sz="2000">
              <a:solidFill>
                <a:srgbClr val="CC4125"/>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Even a simple ‘Hello’ can convey a lot of information depending on the pitch, intonation, and tempo.</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We naturally understand this information, which is why speech is ideal for creating applications where a screen isn’t practical or possible, or simply isn’t convenient.</a:t>
            </a:r>
            <a:endParaRPr sz="2000">
              <a:solidFill>
                <a:srgbClr val="000000"/>
              </a:solidFill>
              <a:latin typeface="Arial"/>
              <a:ea typeface="Arial"/>
              <a:cs typeface="Arial"/>
              <a:sym typeface="Arial"/>
            </a:endParaRPr>
          </a:p>
          <a:p>
            <a:pPr indent="0" lvl="0" marL="0" rtl="0" algn="l">
              <a:lnSpc>
                <a:spcPct val="100000"/>
              </a:lnSpc>
              <a:spcBef>
                <a:spcPts val="1200"/>
              </a:spcBef>
              <a:spcAft>
                <a:spcPts val="0"/>
              </a:spcAft>
              <a:buSzPct val="92857"/>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00000"/>
              </a:lnSpc>
              <a:spcBef>
                <a:spcPts val="1200"/>
              </a:spcBef>
              <a:spcAft>
                <a:spcPts val="120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389" name="Google Shape;389;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395" name="Google Shape;395;p56"/>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No se pueden utilizar las etiquetas &lt;prosody&gt; con el atributo rate dentro de una etiqueta &lt;prosody amazon:max-duration&gt;. Esto se debe a que ambas afectan a la velocidad a la que se dicta el texto. </a:t>
            </a:r>
            <a:endParaRPr sz="20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396" name="Google Shape;396;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402" name="Google Shape;402;p57"/>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&lt;prosody amazon:max-duration="7500ms"&gt;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Human speech is a powerful way to communicate</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&lt;prosody rate="2"&gt; </a:t>
            </a:r>
            <a:r>
              <a:rPr lang="es" sz="2000">
                <a:solidFill>
                  <a:srgbClr val="CC4125"/>
                </a:solidFill>
                <a:latin typeface="Arial"/>
                <a:ea typeface="Arial"/>
                <a:cs typeface="Arial"/>
                <a:sym typeface="Arial"/>
              </a:rPr>
              <a:t># En este ejemplo AWS Polly omite esta etiqueta.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Even a simple ‘Hello’ can convey a lot of information depending on the pitch, intonation, and tempo.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838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p:txBody>
      </p:sp>
      <p:sp>
        <p:nvSpPr>
          <p:cNvPr id="403" name="Google Shape;403;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409" name="Google Shape;409;p58"/>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Cuando se utiliza la etiqueta max-duration, puede insertar pausas en el texto. Sin embargo, Amazon Polly incluye la duración de la pausa al calcular la duración máxima del fragmento de voz. Además, Amazon Polly conserva las pausas breves que se producen cuando hay comas y puntos en un fragmento y las incluye en la duración máxima. </a:t>
            </a:r>
            <a:endParaRPr sz="20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10" name="Google Shape;410;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9"/>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PROSODY.</a:t>
            </a:r>
            <a:endParaRPr/>
          </a:p>
          <a:p>
            <a:pPr indent="0" lvl="0" marL="0" rtl="0" algn="l">
              <a:lnSpc>
                <a:spcPct val="100000"/>
              </a:lnSpc>
              <a:spcBef>
                <a:spcPts val="0"/>
              </a:spcBef>
              <a:spcAft>
                <a:spcPts val="0"/>
              </a:spcAft>
              <a:buSzPct val="111111"/>
              <a:buNone/>
            </a:pPr>
            <a:r>
              <a:t/>
            </a:r>
            <a:endParaRPr/>
          </a:p>
        </p:txBody>
      </p:sp>
      <p:sp>
        <p:nvSpPr>
          <p:cNvPr id="416" name="Google Shape;416;p59"/>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70000" lnSpcReduction="10000"/>
          </a:bodyPr>
          <a:lstStyle/>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Por ejemplo, en el siguiente bloque, la interrupción de 600 milisegundos y la interrupción provocada por comas y puntos se produce en el fragmento de texto de 8 segundos:</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&lt;prosody amazon:max-duration="8s"&gt;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Human speech is a powerful way to communicate.</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&lt;break time="600ms"/&gt;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Even a simple ‘Hello’ can convey a lot of information depending on the pitch, intonation, and tempo.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92857"/>
              <a:buNone/>
            </a:pPr>
            <a:r>
              <a:rPr lang="es" sz="2000">
                <a:solidFill>
                  <a:srgbClr val="000000"/>
                </a:solidFill>
                <a:latin typeface="Arial"/>
                <a:ea typeface="Arial"/>
                <a:cs typeface="Arial"/>
                <a:sym typeface="Arial"/>
              </a:rPr>
              <a:t>     &lt;/prosody&gt;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92857"/>
              <a:buNone/>
            </a:pPr>
            <a:r>
              <a:rPr lang="es" sz="2000">
                <a:solidFill>
                  <a:srgbClr val="000000"/>
                </a:solidFill>
                <a:latin typeface="Arial"/>
                <a:ea typeface="Arial"/>
                <a:cs typeface="Arial"/>
                <a:sym typeface="Arial"/>
              </a:rPr>
              <a:t>&lt;/speak&gt; </a:t>
            </a:r>
            <a:endParaRPr sz="2000">
              <a:solidFill>
                <a:srgbClr val="000000"/>
              </a:solidFill>
              <a:latin typeface="Arial"/>
              <a:ea typeface="Arial"/>
              <a:cs typeface="Arial"/>
              <a:sym typeface="Arial"/>
            </a:endParaRPr>
          </a:p>
        </p:txBody>
      </p:sp>
      <p:sp>
        <p:nvSpPr>
          <p:cNvPr id="417" name="Google Shape;417;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Caracteres reservados.</a:t>
            </a:r>
            <a:endParaRPr/>
          </a:p>
          <a:p>
            <a:pPr indent="0" lvl="0" marL="0" rtl="0" algn="l">
              <a:lnSpc>
                <a:spcPct val="100000"/>
              </a:lnSpc>
              <a:spcBef>
                <a:spcPts val="0"/>
              </a:spcBef>
              <a:spcAft>
                <a:spcPts val="0"/>
              </a:spcAft>
              <a:buSzPct val="111111"/>
              <a:buNone/>
            </a:pPr>
            <a:r>
              <a:t/>
            </a:r>
            <a:endParaRPr/>
          </a:p>
        </p:txBody>
      </p:sp>
      <p:sp>
        <p:nvSpPr>
          <p:cNvPr id="423" name="Google Shape;423;p60"/>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Existen cinco caracteres predefinidos que no se pueden utilizar normalmente dentro de una instrucción SSML. Estas entidades están reservadas para la especificación del idioma. Estos caracteres son:</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24" name="Google Shape;424;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425" name="Google Shape;425;p60"/>
          <p:cNvPicPr preferRelativeResize="0"/>
          <p:nvPr/>
        </p:nvPicPr>
        <p:blipFill rotWithShape="1">
          <a:blip r:embed="rId3">
            <a:alphaModFix/>
          </a:blip>
          <a:srcRect b="0" l="0" r="0" t="0"/>
          <a:stretch/>
        </p:blipFill>
        <p:spPr>
          <a:xfrm>
            <a:off x="1604579" y="2520998"/>
            <a:ext cx="5383070" cy="20646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1"/>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Caracteres reservados.</a:t>
            </a:r>
            <a:endParaRPr/>
          </a:p>
          <a:p>
            <a:pPr indent="0" lvl="0" marL="0" rtl="0" algn="l">
              <a:lnSpc>
                <a:spcPct val="100000"/>
              </a:lnSpc>
              <a:spcBef>
                <a:spcPts val="0"/>
              </a:spcBef>
              <a:spcAft>
                <a:spcPts val="0"/>
              </a:spcAft>
              <a:buSzPct val="111111"/>
              <a:buNone/>
            </a:pPr>
            <a:r>
              <a:t/>
            </a:r>
            <a:endParaRPr/>
          </a:p>
        </p:txBody>
      </p:sp>
      <p:sp>
        <p:nvSpPr>
          <p:cNvPr id="431" name="Google Shape;431;p61"/>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Como SSML utiliza estos caracteres como parte de su código, para usar estos símbolos en SSML, debe incluir el carácter en una secuencia de escape cuando lo utilice. Puede utilizar el código de escape en lugar del carácter real para que se muestre correctamente mientras crea un documento SSML válido. Por ejemplo, la frase siguiente:</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We're using the lawyer at Peabody &amp; Chambers, attorneys-at-law.</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En SSML seria: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We&amp;apos;re using the lawyer at Peabody &amp;amp; Chambers, attorneys-at-law.</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83871"/>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83871"/>
              <a:buNone/>
            </a:pPr>
            <a:r>
              <a:t/>
            </a:r>
            <a:endParaRPr sz="2000">
              <a:solidFill>
                <a:srgbClr val="000000"/>
              </a:solidFill>
              <a:latin typeface="Arial"/>
              <a:ea typeface="Arial"/>
              <a:cs typeface="Arial"/>
              <a:sym typeface="Arial"/>
            </a:endParaRPr>
          </a:p>
        </p:txBody>
      </p:sp>
      <p:sp>
        <p:nvSpPr>
          <p:cNvPr id="432" name="Google Shape;432;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2"/>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say-as</a:t>
            </a:r>
            <a:endParaRPr/>
          </a:p>
        </p:txBody>
      </p:sp>
      <p:sp>
        <p:nvSpPr>
          <p:cNvPr id="438" name="Google Shape;438;p62"/>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Usar&lt;say-as&gt;con la etiqueta interpret-as Para indicar a Amazon Polly cómo leer determinados caracteres, palabras y números. De este modo, puede proporcionar información adicional para eliminar cualquier ambigüedad sobre el modo en que Amazon Polly debe representar el texto.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La etiqueta say-as utiliza un atributo, &lt;interpret-as&gt;, que usa una serie de valores posibles. Todos ellos utilizan la misma sintaxis:</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rPr lang="es" sz="2000">
                <a:solidFill>
                  <a:srgbClr val="000000"/>
                </a:solidFill>
                <a:latin typeface="Arial"/>
                <a:ea typeface="Arial"/>
                <a:cs typeface="Arial"/>
                <a:sym typeface="Arial"/>
              </a:rPr>
              <a:t>&lt;say-as interpret-as="value"&gt;[text to be interpreted]&lt;/say-as&gt;</a:t>
            </a:r>
            <a:endParaRPr sz="2000">
              <a:solidFill>
                <a:srgbClr val="000000"/>
              </a:solidFill>
              <a:latin typeface="Arial"/>
              <a:ea typeface="Arial"/>
              <a:cs typeface="Arial"/>
              <a:sym typeface="Arial"/>
            </a:endParaRPr>
          </a:p>
        </p:txBody>
      </p:sp>
      <p:sp>
        <p:nvSpPr>
          <p:cNvPr id="439" name="Google Shape;43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3"/>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say-as</a:t>
            </a:r>
            <a:endParaRPr/>
          </a:p>
        </p:txBody>
      </p:sp>
      <p:sp>
        <p:nvSpPr>
          <p:cNvPr id="445" name="Google Shape;445;p63"/>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46" name="Google Shape;446;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447" name="Google Shape;447;p63"/>
          <p:cNvPicPr preferRelativeResize="0"/>
          <p:nvPr/>
        </p:nvPicPr>
        <p:blipFill rotWithShape="1">
          <a:blip r:embed="rId3">
            <a:alphaModFix/>
          </a:blip>
          <a:srcRect b="0" l="0" r="0" t="0"/>
          <a:stretch/>
        </p:blipFill>
        <p:spPr>
          <a:xfrm>
            <a:off x="86375" y="987892"/>
            <a:ext cx="9144001" cy="376201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4"/>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say-as</a:t>
            </a:r>
            <a:endParaRPr/>
          </a:p>
        </p:txBody>
      </p:sp>
      <p:sp>
        <p:nvSpPr>
          <p:cNvPr id="453" name="Google Shape;453;p64"/>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b="1" lang="es" sz="2000">
                <a:solidFill>
                  <a:srgbClr val="000000"/>
                </a:solidFill>
                <a:latin typeface="Arial"/>
                <a:ea typeface="Arial"/>
                <a:cs typeface="Arial"/>
                <a:sym typeface="Arial"/>
              </a:rPr>
              <a:t>Fracciones:</a:t>
            </a:r>
            <a:r>
              <a:rPr lang="es" sz="2000">
                <a:solidFill>
                  <a:srgbClr val="000000"/>
                </a:solidFill>
                <a:latin typeface="Arial"/>
                <a:ea typeface="Arial"/>
                <a:cs typeface="Arial"/>
                <a:sym typeface="Arial"/>
              </a:rPr>
              <a:t> Amazon Polly interpreta los valores dentro del say-as que tienen la etiqueta interpret-as="fraction"como fracciones comunes.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A continuación se presenta la sintaxis de las fracciones:</a:t>
            </a:r>
            <a:endParaRPr sz="2000">
              <a:solidFill>
                <a:srgbClr val="000000"/>
              </a:solidFill>
              <a:latin typeface="Arial"/>
              <a:ea typeface="Arial"/>
              <a:cs typeface="Arial"/>
              <a:sym typeface="Arial"/>
            </a:endParaRPr>
          </a:p>
          <a:p>
            <a:pPr indent="-355600" lvl="0" marL="457200" rtl="0" algn="l">
              <a:lnSpc>
                <a:spcPct val="115000"/>
              </a:lnSpc>
              <a:spcBef>
                <a:spcPts val="1200"/>
              </a:spcBef>
              <a:spcAft>
                <a:spcPts val="0"/>
              </a:spcAft>
              <a:buClr>
                <a:srgbClr val="000000"/>
              </a:buClr>
              <a:buSzPts val="2000"/>
              <a:buFont typeface="Arial"/>
              <a:buChar char="●"/>
            </a:pPr>
            <a:r>
              <a:rPr lang="es" sz="2000">
                <a:solidFill>
                  <a:srgbClr val="000000"/>
                </a:solidFill>
                <a:latin typeface="Arial"/>
                <a:ea typeface="Arial"/>
                <a:cs typeface="Arial"/>
                <a:sym typeface="Arial"/>
              </a:rPr>
              <a:t>Fracción: &lt;say-as interpret-as="fraction"&gt;2/9&lt;/say-as&gt; se pronuncia "dos novenos."  </a:t>
            </a:r>
            <a:endParaRPr sz="2000">
              <a:solidFill>
                <a:srgbClr val="000000"/>
              </a:solidFill>
              <a:latin typeface="Arial"/>
              <a:ea typeface="Arial"/>
              <a:cs typeface="Arial"/>
              <a:sym typeface="Arial"/>
            </a:endParaRPr>
          </a:p>
          <a:p>
            <a:pPr indent="-355600" lvl="0" marL="457200" rtl="0" algn="l">
              <a:lnSpc>
                <a:spcPct val="115000"/>
              </a:lnSpc>
              <a:spcBef>
                <a:spcPts val="0"/>
              </a:spcBef>
              <a:spcAft>
                <a:spcPts val="0"/>
              </a:spcAft>
              <a:buClr>
                <a:srgbClr val="000000"/>
              </a:buClr>
              <a:buSzPts val="2000"/>
              <a:buFont typeface="Arial"/>
              <a:buChar char="●"/>
            </a:pPr>
            <a:r>
              <a:rPr lang="es" sz="2000">
                <a:solidFill>
                  <a:srgbClr val="000000"/>
                </a:solidFill>
                <a:latin typeface="Arial"/>
                <a:ea typeface="Arial"/>
                <a:cs typeface="Arial"/>
                <a:sym typeface="Arial"/>
              </a:rPr>
              <a:t>Número mixto no negativo: </a:t>
            </a:r>
            <a:endParaRPr sz="2000">
              <a:solidFill>
                <a:srgbClr val="000000"/>
              </a:solidFill>
              <a:latin typeface="Arial"/>
              <a:ea typeface="Arial"/>
              <a:cs typeface="Arial"/>
              <a:sym typeface="Arial"/>
            </a:endParaRPr>
          </a:p>
          <a:p>
            <a:pPr indent="0" lvl="0" marL="457200" rtl="0" algn="l">
              <a:lnSpc>
                <a:spcPct val="115000"/>
              </a:lnSpc>
              <a:spcBef>
                <a:spcPts val="1200"/>
              </a:spcBef>
              <a:spcAft>
                <a:spcPts val="1200"/>
              </a:spcAft>
              <a:buSzPts val="1300"/>
              <a:buNone/>
            </a:pPr>
            <a:r>
              <a:rPr lang="es" sz="2000">
                <a:solidFill>
                  <a:srgbClr val="000000"/>
                </a:solidFill>
                <a:latin typeface="Arial"/>
                <a:ea typeface="Arial"/>
                <a:cs typeface="Arial"/>
                <a:sym typeface="Arial"/>
              </a:rPr>
              <a:t>&lt;say-as interpret-as="fraction"&gt;3 + 1/2&lt;/say-as&gt; se pronuncia "tres y medio".</a:t>
            </a:r>
            <a:endParaRPr sz="2000">
              <a:solidFill>
                <a:srgbClr val="000000"/>
              </a:solidFill>
              <a:latin typeface="Arial"/>
              <a:ea typeface="Arial"/>
              <a:cs typeface="Arial"/>
              <a:sym typeface="Arial"/>
            </a:endParaRPr>
          </a:p>
        </p:txBody>
      </p:sp>
      <p:sp>
        <p:nvSpPr>
          <p:cNvPr id="454" name="Google Shape;454;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5"/>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say-as</a:t>
            </a:r>
            <a:endParaRPr/>
          </a:p>
        </p:txBody>
      </p:sp>
      <p:sp>
        <p:nvSpPr>
          <p:cNvPr id="460" name="Google Shape;460;p65"/>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70270"/>
              <a:buNone/>
            </a:pPr>
            <a:r>
              <a:rPr b="1" lang="es" sz="2000">
                <a:solidFill>
                  <a:srgbClr val="000000"/>
                </a:solidFill>
                <a:latin typeface="Arial"/>
                <a:ea typeface="Arial"/>
                <a:cs typeface="Arial"/>
                <a:sym typeface="Arial"/>
              </a:rPr>
              <a:t>Fechas: </a:t>
            </a:r>
            <a:r>
              <a:rPr lang="es" sz="2000">
                <a:solidFill>
                  <a:srgbClr val="000000"/>
                </a:solidFill>
                <a:latin typeface="Arial"/>
                <a:ea typeface="Arial"/>
                <a:cs typeface="Arial"/>
                <a:sym typeface="Arial"/>
              </a:rPr>
              <a:t>Cuando interpret-as se establece en date, también se deberá indicar el formato de la fecha.</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&lt;say-as interpret-as="date" format="format"&gt;[date]&lt;/say-as&gt;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Ejemplo:</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     I was born on &lt;say-as interpret-as="date" format="mdy"&gt;12-31-1900&lt;/say-as&gt;.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ct val="7027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70270"/>
              <a:buNone/>
            </a:pPr>
            <a:r>
              <a:t/>
            </a:r>
            <a:endParaRPr sz="2000">
              <a:solidFill>
                <a:srgbClr val="000000"/>
              </a:solidFill>
              <a:latin typeface="Arial"/>
              <a:ea typeface="Arial"/>
              <a:cs typeface="Arial"/>
              <a:sym typeface="Arial"/>
            </a:endParaRPr>
          </a:p>
        </p:txBody>
      </p:sp>
      <p:sp>
        <p:nvSpPr>
          <p:cNvPr id="461" name="Google Shape;461;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6"/>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3.  SSML - say-as</a:t>
            </a:r>
            <a:endParaRPr/>
          </a:p>
        </p:txBody>
      </p:sp>
      <p:sp>
        <p:nvSpPr>
          <p:cNvPr id="467" name="Google Shape;467;p66"/>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Formatos disponibles:</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68" name="Google Shape;468;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pic>
        <p:nvPicPr>
          <p:cNvPr id="469" name="Google Shape;469;p66"/>
          <p:cNvPicPr preferRelativeResize="0"/>
          <p:nvPr/>
        </p:nvPicPr>
        <p:blipFill rotWithShape="1">
          <a:blip r:embed="rId3">
            <a:alphaModFix/>
          </a:blip>
          <a:srcRect b="0" l="0" r="0" t="0"/>
          <a:stretch/>
        </p:blipFill>
        <p:spPr>
          <a:xfrm>
            <a:off x="1481150" y="1881323"/>
            <a:ext cx="9144000" cy="292075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7"/>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69935"/>
              <a:buNone/>
            </a:pPr>
            <a:r>
              <a:rPr lang="es"/>
              <a:t>3.  SSML - whispered</a:t>
            </a:r>
            <a:endParaRPr sz="1700">
              <a:solidFill>
                <a:srgbClr val="000000"/>
              </a:solidFill>
              <a:latin typeface="Arial"/>
              <a:ea typeface="Arial"/>
              <a:cs typeface="Arial"/>
              <a:sym typeface="Arial"/>
            </a:endParaRPr>
          </a:p>
          <a:p>
            <a:pPr indent="0" lvl="0" marL="0" rtl="0" algn="l">
              <a:lnSpc>
                <a:spcPct val="100000"/>
              </a:lnSpc>
              <a:spcBef>
                <a:spcPts val="0"/>
              </a:spcBef>
              <a:spcAft>
                <a:spcPts val="0"/>
              </a:spcAft>
              <a:buSzPct val="111111"/>
              <a:buNone/>
            </a:pPr>
            <a:r>
              <a:t/>
            </a:r>
            <a:endParaRPr/>
          </a:p>
        </p:txBody>
      </p:sp>
      <p:sp>
        <p:nvSpPr>
          <p:cNvPr id="475" name="Google Shape;475;p67"/>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Esta etiqueta indica que la entrada de texto debe leerse en susurros y no con voz normal. Puede utilizarse con todas las voces del catálogo de conversión de texto a voz de Amazon Polly. </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Sintaxis:</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&lt;amazon:effect name=”whispered”&gt;text&lt;/amazon:effect&gt;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76" name="Google Shape;476;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8"/>
          <p:cNvSpPr txBox="1"/>
          <p:nvPr>
            <p:ph type="title"/>
          </p:nvPr>
        </p:nvSpPr>
        <p:spPr>
          <a:xfrm>
            <a:off x="727650" y="5657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69935"/>
              <a:buNone/>
            </a:pPr>
            <a:r>
              <a:rPr lang="es"/>
              <a:t>3.  SSML - whispered</a:t>
            </a:r>
            <a:endParaRPr sz="1700">
              <a:solidFill>
                <a:srgbClr val="000000"/>
              </a:solidFill>
              <a:latin typeface="Arial"/>
              <a:ea typeface="Arial"/>
              <a:cs typeface="Arial"/>
              <a:sym typeface="Arial"/>
            </a:endParaRPr>
          </a:p>
          <a:p>
            <a:pPr indent="0" lvl="0" marL="0" rtl="0" algn="l">
              <a:lnSpc>
                <a:spcPct val="100000"/>
              </a:lnSpc>
              <a:spcBef>
                <a:spcPts val="0"/>
              </a:spcBef>
              <a:spcAft>
                <a:spcPts val="0"/>
              </a:spcAft>
              <a:buSzPct val="111111"/>
              <a:buNone/>
            </a:pPr>
            <a:r>
              <a:t/>
            </a:r>
            <a:endParaRPr/>
          </a:p>
        </p:txBody>
      </p:sp>
      <p:sp>
        <p:nvSpPr>
          <p:cNvPr id="482" name="Google Shape;482;p68"/>
          <p:cNvSpPr txBox="1"/>
          <p:nvPr>
            <p:ph idx="1" type="body"/>
          </p:nvPr>
        </p:nvSpPr>
        <p:spPr>
          <a:xfrm>
            <a:off x="406775" y="1346400"/>
            <a:ext cx="8823600" cy="340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&lt;amazon:effect name="whispered"&gt;Os voy a contar un secreto, &lt;/amazon:effect&gt;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 	no se lo digáis a nadie, &lt;amazon:effect name="whispered"&gt;estamos a punto de terminar el SSML.&lt;/amazon:effect&gt;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lang="es" sz="2000">
                <a:solidFill>
                  <a:srgbClr val="000000"/>
                </a:solidFill>
                <a:latin typeface="Arial"/>
                <a:ea typeface="Arial"/>
                <a:cs typeface="Arial"/>
                <a:sym typeface="Arial"/>
              </a:rPr>
              <a:t>&lt;/speak&gt;</a:t>
            </a:r>
            <a:endParaRPr sz="20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sz="2000">
              <a:solidFill>
                <a:srgbClr val="000000"/>
              </a:solidFill>
              <a:latin typeface="Arial"/>
              <a:ea typeface="Arial"/>
              <a:cs typeface="Arial"/>
              <a:sym typeface="Arial"/>
            </a:endParaRPr>
          </a:p>
        </p:txBody>
      </p:sp>
      <p:sp>
        <p:nvSpPr>
          <p:cNvPr id="483" name="Google Shape;483;p6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