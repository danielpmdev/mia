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theme+xml" PartName="/ppt/theme/theme9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  <p:sldMasterId id="2147483661" r:id="rId6"/>
    <p:sldMasterId id="2147483662" r:id="rId7"/>
    <p:sldMasterId id="2147483663" r:id="rId8"/>
    <p:sldMasterId id="2147483664" r:id="rId9"/>
    <p:sldMasterId id="2147483665" r:id="rId10"/>
    <p:sldMasterId id="2147483666" r:id="rId11"/>
    <p:sldMasterId id="2147483667" r:id="rId12"/>
    <p:sldMasterId id="2147483668" r:id="rId13"/>
    <p:sldMasterId id="2147483669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</p:sldIdLst>
  <p:sldSz cy="5143500" cx="9144000"/>
  <p:notesSz cx="6858000" cy="9144000"/>
  <p:embeddedFontLst>
    <p:embeddedFont>
      <p:font typeface="Raleway"/>
      <p:regular r:id="rId49"/>
      <p:bold r:id="rId50"/>
      <p:italic r:id="rId51"/>
      <p:boldItalic r:id="rId52"/>
    </p:embeddedFont>
    <p:embeddedFont>
      <p:font typeface="Lato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5691B9-DBF0-4D07-AFF0-38659C2C7F80}">
  <a:tblStyle styleId="{035691B9-DBF0-4D07-AFF0-38659C2C7F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5.xml"/><Relationship Id="rId42" Type="http://schemas.openxmlformats.org/officeDocument/2006/relationships/slide" Target="slides/slide27.xml"/><Relationship Id="rId41" Type="http://schemas.openxmlformats.org/officeDocument/2006/relationships/slide" Target="slides/slide26.xml"/><Relationship Id="rId44" Type="http://schemas.openxmlformats.org/officeDocument/2006/relationships/slide" Target="slides/slide29.xml"/><Relationship Id="rId43" Type="http://schemas.openxmlformats.org/officeDocument/2006/relationships/slide" Target="slides/slide28.xml"/><Relationship Id="rId46" Type="http://schemas.openxmlformats.org/officeDocument/2006/relationships/slide" Target="slides/slide31.xml"/><Relationship Id="rId45" Type="http://schemas.openxmlformats.org/officeDocument/2006/relationships/slide" Target="slides/slide30.xml"/><Relationship Id="rId1" Type="http://schemas.openxmlformats.org/officeDocument/2006/relationships/theme" Target="theme/theme8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3.xml"/><Relationship Id="rId47" Type="http://schemas.openxmlformats.org/officeDocument/2006/relationships/slide" Target="slides/slide32.xml"/><Relationship Id="rId49" Type="http://schemas.openxmlformats.org/officeDocument/2006/relationships/font" Target="fonts/Raleway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33" Type="http://schemas.openxmlformats.org/officeDocument/2006/relationships/slide" Target="slides/slide18.xml"/><Relationship Id="rId32" Type="http://schemas.openxmlformats.org/officeDocument/2006/relationships/slide" Target="slides/slide17.xml"/><Relationship Id="rId35" Type="http://schemas.openxmlformats.org/officeDocument/2006/relationships/slide" Target="slides/slide20.xml"/><Relationship Id="rId34" Type="http://schemas.openxmlformats.org/officeDocument/2006/relationships/slide" Target="slides/slide19.xml"/><Relationship Id="rId37" Type="http://schemas.openxmlformats.org/officeDocument/2006/relationships/slide" Target="slides/slide22.xml"/><Relationship Id="rId36" Type="http://schemas.openxmlformats.org/officeDocument/2006/relationships/slide" Target="slides/slide21.xml"/><Relationship Id="rId39" Type="http://schemas.openxmlformats.org/officeDocument/2006/relationships/slide" Target="slides/slide24.xml"/><Relationship Id="rId38" Type="http://schemas.openxmlformats.org/officeDocument/2006/relationships/slide" Target="slides/slide23.xml"/><Relationship Id="rId20" Type="http://schemas.openxmlformats.org/officeDocument/2006/relationships/slide" Target="slides/slide5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29" Type="http://schemas.openxmlformats.org/officeDocument/2006/relationships/slide" Target="slides/slide14.xml"/><Relationship Id="rId51" Type="http://schemas.openxmlformats.org/officeDocument/2006/relationships/font" Target="fonts/Raleway-italic.fntdata"/><Relationship Id="rId50" Type="http://schemas.openxmlformats.org/officeDocument/2006/relationships/font" Target="fonts/Raleway-bold.fntdata"/><Relationship Id="rId53" Type="http://schemas.openxmlformats.org/officeDocument/2006/relationships/font" Target="fonts/Lato-regular.fntdata"/><Relationship Id="rId52" Type="http://schemas.openxmlformats.org/officeDocument/2006/relationships/font" Target="fonts/Raleway-boldItalic.fntdata"/><Relationship Id="rId11" Type="http://schemas.openxmlformats.org/officeDocument/2006/relationships/slideMaster" Target="slideMasters/slideMaster8.xml"/><Relationship Id="rId55" Type="http://schemas.openxmlformats.org/officeDocument/2006/relationships/font" Target="fonts/Lato-italic.fntdata"/><Relationship Id="rId10" Type="http://schemas.openxmlformats.org/officeDocument/2006/relationships/slideMaster" Target="slideMasters/slideMaster7.xml"/><Relationship Id="rId54" Type="http://schemas.openxmlformats.org/officeDocument/2006/relationships/font" Target="fonts/Lato-bold.fntdata"/><Relationship Id="rId13" Type="http://schemas.openxmlformats.org/officeDocument/2006/relationships/slideMaster" Target="slideMasters/slideMaster10.xml"/><Relationship Id="rId12" Type="http://schemas.openxmlformats.org/officeDocument/2006/relationships/slideMaster" Target="slideMasters/slideMaster9.xml"/><Relationship Id="rId56" Type="http://schemas.openxmlformats.org/officeDocument/2006/relationships/font" Target="fonts/Lato-boldItalic.fntdata"/><Relationship Id="rId15" Type="http://schemas.openxmlformats.org/officeDocument/2006/relationships/notesMaster" Target="notesMasters/notesMaster1.xml"/><Relationship Id="rId14" Type="http://schemas.openxmlformats.org/officeDocument/2006/relationships/slideMaster" Target="slideMasters/slideMaster11.xml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19" Type="http://schemas.openxmlformats.org/officeDocument/2006/relationships/slide" Target="slides/slide4.xml"/><Relationship Id="rId1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s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 de la banda del usuario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s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 donde está el data centerdel usuario. Verificar que no hay problema de protección de datos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s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Tiempos de computación lineales, no incluir bucles dentro de bucles.Depuración de algoritmos para ir lo más rápidamente posible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s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Aplicaciones de compresión del lenguaje de natural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s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Buscamos intención y entidades clave para ejecutar la orden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s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intenta resolver más del 70% , el resto se tiene que pasar a agente humano. El BOT necesita un mantenimiento… y es caro, a veces no están disponibles todas la hora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s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Hay que tener una buena automatización de procesos antes de abordar un bot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 type="blank">
  <p:cSld name="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729360" y="2079000"/>
            <a:ext cx="3751920" cy="22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2" type="body"/>
          </p:nvPr>
        </p:nvSpPr>
        <p:spPr>
          <a:xfrm>
            <a:off x="4669200" y="2079000"/>
            <a:ext cx="3751920" cy="22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sz="1000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sz="1000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6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1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2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11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5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3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4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530280" y="1205460"/>
            <a:ext cx="1342620" cy="17460"/>
            <a:chOff x="530280" y="1205460"/>
            <a:chExt cx="1342620" cy="17460"/>
          </a:xfrm>
        </p:grpSpPr>
        <p:sp>
          <p:nvSpPr>
            <p:cNvPr id="12" name="Google Shape;12;p1"/>
            <p:cNvSpPr/>
            <p:nvPr/>
          </p:nvSpPr>
          <p:spPr>
            <a:xfrm rot="-54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rot="-54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1"/>
          <p:cNvSpPr txBox="1"/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30520" y="4304880"/>
            <a:ext cx="7978320" cy="1036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IES Abastos									  CE Inteligencia Artificial y Big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											      Modelos de Inteligencia Artificial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3"/>
          <p:cNvGrpSpPr/>
          <p:nvPr/>
        </p:nvGrpSpPr>
        <p:grpSpPr>
          <a:xfrm>
            <a:off x="530280" y="1205460"/>
            <a:ext cx="1342620" cy="17460"/>
            <a:chOff x="530280" y="1205460"/>
            <a:chExt cx="1342620" cy="17460"/>
          </a:xfrm>
        </p:grpSpPr>
        <p:sp>
          <p:nvSpPr>
            <p:cNvPr id="25" name="Google Shape;25;p3"/>
            <p:cNvSpPr/>
            <p:nvPr/>
          </p:nvSpPr>
          <p:spPr>
            <a:xfrm rot="-54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3"/>
          <p:cNvSpPr txBox="1"/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29360" y="4631760"/>
            <a:ext cx="797832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   IES Abastos			  		  		             CE Inteligencia Artificial y Big Data/ Modelos de Inteligencia Artificial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5"/>
          <p:cNvGrpSpPr/>
          <p:nvPr/>
        </p:nvGrpSpPr>
        <p:grpSpPr>
          <a:xfrm>
            <a:off x="530280" y="4183380"/>
            <a:ext cx="1342620" cy="17460"/>
            <a:chOff x="530280" y="4183380"/>
            <a:chExt cx="1342620" cy="17460"/>
          </a:xfrm>
        </p:grpSpPr>
        <p:sp>
          <p:nvSpPr>
            <p:cNvPr id="37" name="Google Shape;37;p5"/>
            <p:cNvSpPr/>
            <p:nvPr/>
          </p:nvSpPr>
          <p:spPr>
            <a:xfrm rot="-5400000">
              <a:off x="1380600" y="3708360"/>
              <a:ext cx="17280" cy="9673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5"/>
            <p:cNvSpPr/>
            <p:nvPr/>
          </p:nvSpPr>
          <p:spPr>
            <a:xfrm rot="-5400000">
              <a:off x="1009440" y="3704400"/>
              <a:ext cx="17280" cy="97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9360" y="734040"/>
            <a:ext cx="7688160" cy="1244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729360" y="2273040"/>
            <a:ext cx="7688160" cy="158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9"/>
          <p:cNvGrpSpPr/>
          <p:nvPr/>
        </p:nvGrpSpPr>
        <p:grpSpPr>
          <a:xfrm>
            <a:off x="530280" y="1205460"/>
            <a:ext cx="1342620" cy="17460"/>
            <a:chOff x="530280" y="1205460"/>
            <a:chExt cx="1342620" cy="17460"/>
          </a:xfrm>
        </p:grpSpPr>
        <p:sp>
          <p:nvSpPr>
            <p:cNvPr id="50" name="Google Shape;50;p9"/>
            <p:cNvSpPr/>
            <p:nvPr/>
          </p:nvSpPr>
          <p:spPr>
            <a:xfrm rot="-54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9"/>
            <p:cNvSpPr/>
            <p:nvPr/>
          </p:nvSpPr>
          <p:spPr>
            <a:xfrm rot="-54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9"/>
          <p:cNvSpPr txBox="1"/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"/>
          <p:cNvGrpSpPr/>
          <p:nvPr/>
        </p:nvGrpSpPr>
        <p:grpSpPr>
          <a:xfrm>
            <a:off x="530280" y="1205460"/>
            <a:ext cx="1342620" cy="17460"/>
            <a:chOff x="530280" y="1205460"/>
            <a:chExt cx="1342620" cy="17460"/>
          </a:xfrm>
        </p:grpSpPr>
        <p:sp>
          <p:nvSpPr>
            <p:cNvPr id="59" name="Google Shape;59;p11"/>
            <p:cNvSpPr/>
            <p:nvPr/>
          </p:nvSpPr>
          <p:spPr>
            <a:xfrm rot="-54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1"/>
            <p:cNvSpPr/>
            <p:nvPr/>
          </p:nvSpPr>
          <p:spPr>
            <a:xfrm rot="-54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11"/>
          <p:cNvSpPr txBox="1"/>
          <p:nvPr>
            <p:ph type="title"/>
          </p:nvPr>
        </p:nvSpPr>
        <p:spPr>
          <a:xfrm>
            <a:off x="729360" y="1318680"/>
            <a:ext cx="768816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729360" y="2079000"/>
            <a:ext cx="3773880" cy="22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643640" y="2079000"/>
            <a:ext cx="3773880" cy="22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" name="Google Shape;72;p13"/>
          <p:cNvGrpSpPr/>
          <p:nvPr/>
        </p:nvGrpSpPr>
        <p:grpSpPr>
          <a:xfrm>
            <a:off x="530280" y="1205460"/>
            <a:ext cx="1342620" cy="17460"/>
            <a:chOff x="530280" y="1205460"/>
            <a:chExt cx="1342620" cy="17460"/>
          </a:xfrm>
        </p:grpSpPr>
        <p:sp>
          <p:nvSpPr>
            <p:cNvPr id="73" name="Google Shape;73;p13"/>
            <p:cNvSpPr/>
            <p:nvPr/>
          </p:nvSpPr>
          <p:spPr>
            <a:xfrm rot="-54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 rot="-54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13"/>
          <p:cNvSpPr txBox="1"/>
          <p:nvPr>
            <p:ph type="title"/>
          </p:nvPr>
        </p:nvSpPr>
        <p:spPr>
          <a:xfrm>
            <a:off x="729360" y="1318680"/>
            <a:ext cx="768816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15"/>
          <p:cNvGrpSpPr/>
          <p:nvPr/>
        </p:nvGrpSpPr>
        <p:grpSpPr>
          <a:xfrm>
            <a:off x="530280" y="1205460"/>
            <a:ext cx="1342620" cy="17460"/>
            <a:chOff x="530280" y="1205460"/>
            <a:chExt cx="1342620" cy="17460"/>
          </a:xfrm>
        </p:grpSpPr>
        <p:sp>
          <p:nvSpPr>
            <p:cNvPr id="83" name="Google Shape;83;p15"/>
            <p:cNvSpPr/>
            <p:nvPr/>
          </p:nvSpPr>
          <p:spPr>
            <a:xfrm rot="-54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 rot="-54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" name="Google Shape;85;p15"/>
          <p:cNvSpPr txBox="1"/>
          <p:nvPr>
            <p:ph type="title"/>
          </p:nvPr>
        </p:nvSpPr>
        <p:spPr>
          <a:xfrm>
            <a:off x="730080" y="1318680"/>
            <a:ext cx="3300480" cy="138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721080" y="2781720"/>
            <a:ext cx="3300480" cy="1597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7"/>
          <p:cNvGrpSpPr/>
          <p:nvPr/>
        </p:nvGrpSpPr>
        <p:grpSpPr>
          <a:xfrm>
            <a:off x="530280" y="4183380"/>
            <a:ext cx="1342620" cy="17460"/>
            <a:chOff x="530280" y="4183380"/>
            <a:chExt cx="1342620" cy="17460"/>
          </a:xfrm>
        </p:grpSpPr>
        <p:sp>
          <p:nvSpPr>
            <p:cNvPr id="92" name="Google Shape;92;p17"/>
            <p:cNvSpPr/>
            <p:nvPr/>
          </p:nvSpPr>
          <p:spPr>
            <a:xfrm rot="-5400000">
              <a:off x="1380600" y="3708360"/>
              <a:ext cx="17280" cy="9673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7"/>
            <p:cNvSpPr/>
            <p:nvPr/>
          </p:nvSpPr>
          <p:spPr>
            <a:xfrm rot="-5400000">
              <a:off x="1009440" y="3704400"/>
              <a:ext cx="17280" cy="97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17"/>
          <p:cNvSpPr txBox="1"/>
          <p:nvPr>
            <p:ph type="title"/>
          </p:nvPr>
        </p:nvSpPr>
        <p:spPr>
          <a:xfrm>
            <a:off x="729360" y="864360"/>
            <a:ext cx="7020720" cy="2984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19"/>
          <p:cNvGrpSpPr/>
          <p:nvPr/>
        </p:nvGrpSpPr>
        <p:grpSpPr>
          <a:xfrm>
            <a:off x="530280" y="1205460"/>
            <a:ext cx="1342620" cy="17460"/>
            <a:chOff x="530280" y="1205460"/>
            <a:chExt cx="1342620" cy="17460"/>
          </a:xfrm>
        </p:grpSpPr>
        <p:sp>
          <p:nvSpPr>
            <p:cNvPr id="101" name="Google Shape;101;p19"/>
            <p:cNvSpPr/>
            <p:nvPr/>
          </p:nvSpPr>
          <p:spPr>
            <a:xfrm rot="-54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9"/>
            <p:cNvSpPr/>
            <p:nvPr/>
          </p:nvSpPr>
          <p:spPr>
            <a:xfrm rot="-54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9"/>
          <p:cNvSpPr txBox="1"/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725040" y="4372560"/>
            <a:ext cx="7697160" cy="46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000"/>
              <a:buFont typeface="Lato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latform.openai.com/tokenizer?utm_source=chatgpt.com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</a:pPr>
            <a:r>
              <a:rPr b="1" lang="es" sz="42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UT</a:t>
            </a:r>
            <a:r>
              <a:rPr b="1" lang="es" sz="465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.8 Comprensión del lenguaje natural.</a:t>
            </a:r>
            <a:endParaRPr b="0" sz="46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 b="0" sz="4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687240" y="59940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Bloques de la UT8: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780120" y="1441080"/>
            <a:ext cx="7688520" cy="2830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6849" lnSpcReduction="10000"/>
          </a:bodyPr>
          <a:lstStyle/>
          <a:p>
            <a:pPr indent="-35213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Comprensión del lenguaje natural.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213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IA discriminativa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213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NLU - Intención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213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NLU - Tokenización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213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NLU - Embeddings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213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NLU- Estructura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213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Arquitectura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213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Ejercicios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213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Lato"/>
              <a:buAutoNum type="arabicPeriod"/>
            </a:pPr>
            <a:r>
              <a:rPr b="0" i="0" lang="e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Laboratorio 1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-3773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190000"/>
              <a:buFont typeface="Raleway"/>
              <a:buAutoNum type="arabicPeriod"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Comprensión del lenguaje natural.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795960" y="1271160"/>
            <a:ext cx="731736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Recordatorio de 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880" y="1671120"/>
            <a:ext cx="5171760" cy="240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-3773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190000"/>
              <a:buFont typeface="Raleway"/>
              <a:buAutoNum type="arabicPeriod"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Comprensión del lenguaje natural.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6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279720" y="1363320"/>
            <a:ext cx="8670960" cy="3094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comprensión del lenguaje natural es una rama de la inteligencia artificial que utiliza software para comprender la entrada en forma de oraciones usando texto o habla.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NLU (Natural Language Understanding) permite la interacción persona-computadora. Es la comprensión del lenguaje humano como el inglés, el español y el francés, por ejemplo, lo que permite a los móviles u ordenadores comprender comandos sin sintaxis de lenguajes de programación.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-3773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190000"/>
              <a:buFont typeface="Raleway"/>
              <a:buAutoNum type="arabicPeriod"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Comprensión del lenguaje natural.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7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7"/>
          <p:cNvSpPr/>
          <p:nvPr/>
        </p:nvSpPr>
        <p:spPr>
          <a:xfrm>
            <a:off x="380880" y="1353600"/>
            <a:ext cx="8637840" cy="1645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este tema y el siguiente veremos cómo realizar una compresión de textos y a partir de esta poder realizar una respuesta óptima.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-3773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190000"/>
              <a:buFont typeface="Raleway"/>
              <a:buAutoNum type="arabicPeriod"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Comprensión del lenguaje natural.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8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8"/>
          <p:cNvSpPr/>
          <p:nvPr/>
        </p:nvSpPr>
        <p:spPr>
          <a:xfrm>
            <a:off x="380880" y="1277280"/>
            <a:ext cx="8637840" cy="3978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retardo: Añadimos una nueva capa de computación, por lo que tenemos una nueva variable de retardo: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 usuario.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Ubicación usuario.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Computación TTS.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Computación ASR.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Computación NLU.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Recordar que uno de los mayores retos es que tiene que ser en </a:t>
            </a:r>
            <a:r>
              <a:rPr b="1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tiempo real</a:t>
            </a: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comunicación con el humano.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-3773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190000"/>
              <a:buFont typeface="Raleway"/>
              <a:buAutoNum type="arabicPeriod"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Comprensión del lenguaje natural.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9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9"/>
          <p:cNvSpPr/>
          <p:nvPr/>
        </p:nvSpPr>
        <p:spPr>
          <a:xfrm>
            <a:off x="380880" y="1277280"/>
            <a:ext cx="8637840" cy="2073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NLU analiza los datos para determinar su significado utilizando algoritmos para reducir el habla humana a un ontología estructurada — a modelo de datos que consiste en semántica y definiciones pragmáticas. Dos conceptos fundamentales de NLU son la </a:t>
            </a:r>
            <a:r>
              <a:rPr b="1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intención </a:t>
            </a: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el </a:t>
            </a:r>
            <a:r>
              <a:rPr b="1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reconocimiento de entidades.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-3773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190000"/>
              <a:buFont typeface="Raleway"/>
              <a:buAutoNum type="arabicPeriod"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Comprensión del lenguaje natural.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0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30"/>
          <p:cNvSpPr/>
          <p:nvPr/>
        </p:nvSpPr>
        <p:spPr>
          <a:xfrm>
            <a:off x="380880" y="1277280"/>
            <a:ext cx="8637840" cy="39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reconocimiento de </a:t>
            </a:r>
            <a:r>
              <a:rPr b="1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intenciones </a:t>
            </a: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el proceso de identificar el sentimiento del usuario en el texto de entrada y determinar su objetivo. Es la primera y más importante parte de NLU porque establece el significado del texto.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reconocimiento de </a:t>
            </a:r>
            <a:r>
              <a:rPr b="1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 </a:t>
            </a: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tipo específico de NLU que se enfoca en identificar las entidades en un mensaje y luego extraer la información más importante sobre esas entidades. Hay dos tipos de entidades: entidades nombradas y entidades numéricas. Las entidades nombradas se agrupan en categorías, como personas, empresas y ubicaciones. Las entidades numéricas se reconocen como números, monedas y porcentajes.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-3773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190000"/>
              <a:buFont typeface="Raleway"/>
              <a:buAutoNum type="arabicPeriod"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Comprensión del lenguaje natural.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1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31"/>
          <p:cNvSpPr/>
          <p:nvPr/>
        </p:nvSpPr>
        <p:spPr>
          <a:xfrm>
            <a:off x="380880" y="1277280"/>
            <a:ext cx="8637840" cy="3536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Aplicaciones IVR y enrutamiento de mensajes: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Respuesta de Voz Interactiva (IVR) se utiliza para autoservicio y enrutamiento de llamadas.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primeras iteraciones fueron basadas en sistemas expertos.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Hoy en día predomina los modelos cognitivos. El sistema procesa la voz del usuario, convierte las palabras en texto y luego analiza la estructura gramatical de la oración para determinar la probable intención de la persona que llama.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-3773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190000"/>
              <a:buFont typeface="Raleway"/>
              <a:buAutoNum type="arabicPeriod"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Comprensión del lenguaje natural.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32"/>
          <p:cNvSpPr/>
          <p:nvPr/>
        </p:nvSpPr>
        <p:spPr>
          <a:xfrm>
            <a:off x="380880" y="1277280"/>
            <a:ext cx="8637840" cy="3398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Aplicaciones de atención al cliente y servicio a través de asistentes personales inteligentes: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NLU es la tecnología detrás de los chatbots.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Tiene distintas capas de diferentes procesos en la tecnología NLU, como extracción de características y clasificación, vinculación de entidades y conocimiento administrativo.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-3773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190000"/>
              <a:buFont typeface="Raleway"/>
              <a:buAutoNum type="arabicPeriod"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Comprensión del lenguaje natural.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3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33"/>
          <p:cNvSpPr/>
          <p:nvPr/>
        </p:nvSpPr>
        <p:spPr>
          <a:xfrm>
            <a:off x="380880" y="1277280"/>
            <a:ext cx="8637840" cy="28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temas anteriores hemos analizado cómo funcionan los IVR telefónicos y los asistentes virtuales.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ambos casos se obtienen grandes ventajas sobre modelos tradicionales: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Utilización 7x24 con tiempos de respuesta inmediatos.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Tiempos de resolución muy bajos en casos cotidianos.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RRHH.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Automatización de procesos.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2. IA discriminativa.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4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34"/>
          <p:cNvSpPr/>
          <p:nvPr/>
        </p:nvSpPr>
        <p:spPr>
          <a:xfrm>
            <a:off x="380880" y="1277280"/>
            <a:ext cx="8637840" cy="45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Amazon Lex V2 es un servicio de AWS para crear interfaces de conversación para aplicaciones que usen voz y texto.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Proporciona la amplia funcionalidad y flexibilidad de la comprensión del lenguaje natural (NLU) y el reconocimiento automático de voz (ASR).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comprensión del lenguaje natural y el reconocimiento de voz son algunos de los problemas principales que deben resolver las ciencias computacionales, lo que requiere entrenar sofisticados algoritmos de aprendizaje profundo con enormes cantidades de datos e infraestructura.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2. IA discriminativa.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5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35"/>
          <p:cNvSpPr/>
          <p:nvPr/>
        </p:nvSpPr>
        <p:spPr>
          <a:xfrm>
            <a:off x="380880" y="1277280"/>
            <a:ext cx="8586720" cy="6644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la UT5 vimos como funcionaba Alexa a nivel de infraestructura y funcional.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 lo aprendido hasta el momento ya podemos analizar los elementos TTS, ASR y NLU, los flujos entre estos y variables de entrada / salida.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a ver un ejemplo en la siguiente diapositiva.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2. IA discriminativa.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6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36"/>
          <p:cNvSpPr/>
          <p:nvPr/>
        </p:nvSpPr>
        <p:spPr>
          <a:xfrm>
            <a:off x="380880" y="1277280"/>
            <a:ext cx="8586720" cy="2879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120" y="1315800"/>
            <a:ext cx="6114600" cy="3182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2.  Introducción a AWS Lex v2. Alexa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7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37"/>
          <p:cNvSpPr/>
          <p:nvPr/>
        </p:nvSpPr>
        <p:spPr>
          <a:xfrm>
            <a:off x="380880" y="1209600"/>
            <a:ext cx="8586720" cy="2925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EJ1: Indicar el siguiente flujo en Alexa ¿ Qué tiempo hace en Valencia 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" name="Google Shape;217;p37"/>
          <p:cNvGraphicFramePr/>
          <p:nvPr/>
        </p:nvGraphicFramePr>
        <p:xfrm>
          <a:off x="952560" y="181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{035691B9-DBF0-4D07-AFF0-38659C2C7F80}</a:tableStyleId>
              </a:tblPr>
              <a:tblGrid>
                <a:gridCol w="1809725"/>
                <a:gridCol w="1809725"/>
                <a:gridCol w="1809725"/>
                <a:gridCol w="1809725"/>
              </a:tblGrid>
              <a:tr h="55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Entrada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Salida 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2.  Introducción a AWS Lex v2. Alexa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8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8"/>
          <p:cNvSpPr/>
          <p:nvPr/>
        </p:nvSpPr>
        <p:spPr>
          <a:xfrm>
            <a:off x="380880" y="1209600"/>
            <a:ext cx="8586720" cy="2925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EJ2: Indicar el siguiente flujo en Alexa ¿ Cuáles son las noticias del día 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5" name="Google Shape;225;p38"/>
          <p:cNvGraphicFramePr/>
          <p:nvPr/>
        </p:nvGraphicFramePr>
        <p:xfrm>
          <a:off x="952560" y="181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{035691B9-DBF0-4D07-AFF0-38659C2C7F80}</a:tableStyleId>
              </a:tblPr>
              <a:tblGrid>
                <a:gridCol w="1809725"/>
                <a:gridCol w="1809725"/>
                <a:gridCol w="1809725"/>
                <a:gridCol w="1809725"/>
              </a:tblGrid>
              <a:tr h="55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Entrada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Salida 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2.  Introducción a AWS Lex v2. Alexa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9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9"/>
          <p:cNvSpPr/>
          <p:nvPr/>
        </p:nvSpPr>
        <p:spPr>
          <a:xfrm>
            <a:off x="380880" y="1209600"/>
            <a:ext cx="8586720" cy="3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EJ3: Indicar el siguiente flujo en Alexa ¿ Pon una alarma para las 7 de la mañana 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3" name="Google Shape;233;p39"/>
          <p:cNvGraphicFramePr/>
          <p:nvPr/>
        </p:nvGraphicFramePr>
        <p:xfrm>
          <a:off x="884880" y="2058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{035691B9-DBF0-4D07-AFF0-38659C2C7F80}</a:tableStyleId>
              </a:tblPr>
              <a:tblGrid>
                <a:gridCol w="1809725"/>
                <a:gridCol w="1809725"/>
                <a:gridCol w="1809725"/>
                <a:gridCol w="1809725"/>
              </a:tblGrid>
              <a:tr h="55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Entrada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Salida 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3. Estructura NLU - Intención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0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40"/>
          <p:cNvSpPr/>
          <p:nvPr/>
        </p:nvSpPr>
        <p:spPr>
          <a:xfrm>
            <a:off x="380880" y="1277280"/>
            <a:ext cx="8586720" cy="6690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un sistema de Natural Language Understanding (NLU), una intención es una representación estructurada de la acción o significado subyacente que un usuario quiere expresar en su consulta o enunciado.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intención (o "intent" en inglés) representa la meta del usuario al formular una consulta en lenguaje natural. Los modelos de NLU identifican la intención para poder dar una respuesta o ejecutar una acción adecuada</a:t>
            </a: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3. NLU - Intención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1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380880" y="1227960"/>
            <a:ext cx="8586720" cy="8046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un usuario escribe en un chatbot: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"¿Cuánto cuesta el envío?"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Intención: Consultar_Costo_Envio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"Quiero pedir una pizza grande con pepperoni"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Intención: Realizar_Pedido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"Necesito cambiar la dirección de entrega"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Intención: Actualizar_Direccion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una de estas intenciones guía al sistema para proporcionar una respuesta o ejecutar una acción.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3. NLU - Intención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2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42"/>
          <p:cNvSpPr/>
          <p:nvPr/>
        </p:nvSpPr>
        <p:spPr>
          <a:xfrm>
            <a:off x="380880" y="1227960"/>
            <a:ext cx="8586720" cy="7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Proceso de Identificación de Intenciones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Tokenización: Se divide el texto en palabras o frases clave.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Embeddings/Vectorización: Se convierte el texto en representaciones numéricas para su análisis.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Clasificación: Se usa un modelo de machine learning (SVM, redes neuronales, transformers) para asignar la intención más probable.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4. NLU - Embeddings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3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43"/>
          <p:cNvSpPr/>
          <p:nvPr/>
        </p:nvSpPr>
        <p:spPr>
          <a:xfrm>
            <a:off x="380880" y="1227960"/>
            <a:ext cx="8586720" cy="594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Tokenización: Ejemplo de tokenización chatgpt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https://platform.openai.com/tokenizer?utm_source=chatgpt.com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5. NLU - Embeddings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4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44"/>
          <p:cNvSpPr/>
          <p:nvPr/>
        </p:nvSpPr>
        <p:spPr>
          <a:xfrm>
            <a:off x="380880" y="1227960"/>
            <a:ext cx="8586720" cy="7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“inteligencia artificial evoluciona rapidamente”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Tokenización: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ID: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Vectorización (Embeddings):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1" marL="9144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IDs → Vectores ([0.21, -0.45, ..., 0.12]).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080" y="1852200"/>
            <a:ext cx="3562200" cy="32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0720" y="2370960"/>
            <a:ext cx="3274200" cy="26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6. NLU - Estructura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5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45"/>
          <p:cNvSpPr/>
          <p:nvPr/>
        </p:nvSpPr>
        <p:spPr>
          <a:xfrm>
            <a:off x="380880" y="1227960"/>
            <a:ext cx="8586720" cy="6842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plataformas como Dialogflow, Rasa, Lex o LUIS, una intención suele estar compuesta por: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Utterances.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Acciones o Respuestas.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6. NLU - Estructura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6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46"/>
          <p:cNvSpPr/>
          <p:nvPr/>
        </p:nvSpPr>
        <p:spPr>
          <a:xfrm>
            <a:off x="380880" y="1227960"/>
            <a:ext cx="8586720" cy="7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Utterances (Frases de ejemplo):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los ejemplos de cómo los usuarios podrían expresar una intención.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para la intención Reservar_Hotel: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"Quiero reservar una habitación en Madrid."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"Necesito un hotel para mañana."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"Reserva un cuarto doble el próximo lunes."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6. NLU - Estructura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7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47"/>
          <p:cNvSpPr/>
          <p:nvPr/>
        </p:nvSpPr>
        <p:spPr>
          <a:xfrm>
            <a:off x="380880" y="1227960"/>
            <a:ext cx="8586720" cy="8549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los datos específicos extraídos de la frase que son relevantes para completar la acción.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para Reservar_Hotel: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ubicación: Madrid, Barcelona.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fecha: mañana, próximo lunes.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tipo_habitación: habitación doble, suite.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8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6. NLU - Estructura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8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48"/>
          <p:cNvSpPr/>
          <p:nvPr/>
        </p:nvSpPr>
        <p:spPr>
          <a:xfrm>
            <a:off x="380880" y="1227960"/>
            <a:ext cx="8586720" cy="9052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Slots:</a:t>
            </a: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 los "contenedores" que se llenan con valores de las entidades extraídas durante una interacción. Permiten almacenar y completar la información necesaria para realizar una acción.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para Reservar_Hotel: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Slots a rellenar: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ubicación (Madrid, Barcelona, etc.)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 (mañana, próximo lunes, etc.)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tipo_habitación (doble, suite, etc.)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6. NLU - Estructura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9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49"/>
          <p:cNvSpPr/>
          <p:nvPr/>
        </p:nvSpPr>
        <p:spPr>
          <a:xfrm>
            <a:off x="380880" y="1227960"/>
            <a:ext cx="8586720" cy="9204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Acciones o Respuestas: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las tareas que el sistema debe realizar después de identificar la intención y completar los slots.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para Reservar_Hotel: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Enviar los datos de la reserva a una API.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4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Confirmar la reserva al usuario: "Tu habitación doble en Madrid ha sido reservada para el próximo lunes."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7. Arquitectura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0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2" name="Google Shape;31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20" y="1402200"/>
            <a:ext cx="7810200" cy="3038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7. Arquitectura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1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9" name="Google Shape;31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240" y="1354320"/>
            <a:ext cx="5730120" cy="3128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7. Arquitectura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2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52"/>
          <p:cNvSpPr/>
          <p:nvPr/>
        </p:nvSpPr>
        <p:spPr>
          <a:xfrm>
            <a:off x="426960" y="1277280"/>
            <a:ext cx="8586720" cy="2879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120" y="1315800"/>
            <a:ext cx="6114600" cy="3182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3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2.  Introducción a AWS Lex v2. Alexa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53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53"/>
          <p:cNvSpPr/>
          <p:nvPr/>
        </p:nvSpPr>
        <p:spPr>
          <a:xfrm>
            <a:off x="380880" y="1209600"/>
            <a:ext cx="8586720" cy="2925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EJ1: Indicar el siguiente flujo en Alexa ¿ Qué tiempo hace en Valencia 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5" name="Google Shape;335;p53"/>
          <p:cNvGraphicFramePr/>
          <p:nvPr/>
        </p:nvGraphicFramePr>
        <p:xfrm>
          <a:off x="952560" y="181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{035691B9-DBF0-4D07-AFF0-38659C2C7F80}</a:tableStyleId>
              </a:tblPr>
              <a:tblGrid>
                <a:gridCol w="1809725"/>
                <a:gridCol w="1809725"/>
                <a:gridCol w="1809725"/>
                <a:gridCol w="1809725"/>
              </a:tblGrid>
              <a:tr h="55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Entrada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Salida 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4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2.  Introducción a AWS Lex v2. Alexa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4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54"/>
          <p:cNvSpPr/>
          <p:nvPr/>
        </p:nvSpPr>
        <p:spPr>
          <a:xfrm>
            <a:off x="380880" y="1209600"/>
            <a:ext cx="8586720" cy="2925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EJ2: Indicar el siguiente flujo en Alexa ¿ Cuáles son las noticias del día 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3" name="Google Shape;343;p54"/>
          <p:cNvGraphicFramePr/>
          <p:nvPr/>
        </p:nvGraphicFramePr>
        <p:xfrm>
          <a:off x="952560" y="181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{035691B9-DBF0-4D07-AFF0-38659C2C7F80}</a:tableStyleId>
              </a:tblPr>
              <a:tblGrid>
                <a:gridCol w="1809725"/>
                <a:gridCol w="1809725"/>
                <a:gridCol w="1809725"/>
                <a:gridCol w="1809725"/>
              </a:tblGrid>
              <a:tr h="55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Entrada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Salida 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5"/>
          <p:cNvSpPr txBox="1"/>
          <p:nvPr>
            <p:ph type="title"/>
          </p:nvPr>
        </p:nvSpPr>
        <p:spPr>
          <a:xfrm>
            <a:off x="727560" y="565920"/>
            <a:ext cx="7688520" cy="5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30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None/>
            </a:pPr>
            <a:r>
              <a:rPr b="1" lang="es" sz="2600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2.  Introducción a AWS Lex v2. Alexa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5"/>
          <p:cNvSpPr txBox="1"/>
          <p:nvPr>
            <p:ph idx="12" type="sldNum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55"/>
          <p:cNvSpPr/>
          <p:nvPr/>
        </p:nvSpPr>
        <p:spPr>
          <a:xfrm>
            <a:off x="380880" y="1209600"/>
            <a:ext cx="8586720" cy="3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EJ3: Indicar el siguiente flujo en Alexa ¿ Pon una alarma para las 7 de la mañana 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1" name="Google Shape;351;p55"/>
          <p:cNvGraphicFramePr/>
          <p:nvPr/>
        </p:nvGraphicFramePr>
        <p:xfrm>
          <a:off x="884880" y="2058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{035691B9-DBF0-4D07-AFF0-38659C2C7F80}</a:tableStyleId>
              </a:tblPr>
              <a:tblGrid>
                <a:gridCol w="1809725"/>
                <a:gridCol w="1809725"/>
                <a:gridCol w="1809725"/>
                <a:gridCol w="1809725"/>
              </a:tblGrid>
              <a:tr h="55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Entrada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Salida 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4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b="0" sz="14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